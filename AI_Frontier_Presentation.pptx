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02920"/>
            <a:ext cx="109728" cy="109728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57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spc="200">
                <a:solidFill>
                  <a:srgbClr val="EDEDED"/>
                </a:solidFill>
                <a:latin typeface="Inter"/>
              </a:rPr>
              <a:t>AI FRONTIER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362895" y="4572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LIVE DEMO  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666666"/>
                </a:solidFill>
                <a:latin typeface="Inter"/>
              </a:rPr>
              <a:t>DATA VISUALIZATION  ·  EECE 5642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111556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EDEDED"/>
                </a:solidFill>
                <a:latin typeface="Inter"/>
              </a:rPr>
              <a:t>Mapping the AI Model Landscape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8620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888888"/>
                </a:solidFill>
                <a:latin typeface="Inter"/>
              </a:rPr>
              <a:t>Comparing 255+ AI models on cost, speed, and intelligence,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5196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888888"/>
                </a:solidFill>
                <a:latin typeface="Inter"/>
              </a:rPr>
              <a:t>in one place, updated every hour.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534924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5532120"/>
            <a:ext cx="277360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EDEDED"/>
                </a:solidFill>
                <a:latin typeface="Inter"/>
              </a:rPr>
              <a:t>255+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126480"/>
            <a:ext cx="27736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MODELS TRACKED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22243" y="5532120"/>
            <a:ext cx="277360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EDEDED"/>
                </a:solidFill>
                <a:latin typeface="Inter"/>
              </a:rPr>
              <a:t>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22243" y="6126480"/>
            <a:ext cx="27736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PROVIDERS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5847" y="5532120"/>
            <a:ext cx="277360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EDEDED"/>
                </a:solidFill>
                <a:latin typeface="Inter"/>
              </a:rPr>
              <a:t>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5847" y="6126480"/>
            <a:ext cx="27736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INTERACTIVE TABS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451" y="5532120"/>
            <a:ext cx="277360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0D4FF"/>
                </a:solidFill>
                <a:latin typeface="Inter"/>
              </a:rPr>
              <a:t>HOURLY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451" y="6126480"/>
            <a:ext cx="27736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DATA REFRESH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Avo Sarkissian  ·  Northeastern University  ·  Spring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786384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01 · WHY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4572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02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DEDED"/>
                </a:solidFill>
                <a:latin typeface="Inter"/>
              </a:rPr>
              <a:t>Why this matters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46304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60">
                <a:solidFill>
                  <a:srgbClr val="666666"/>
                </a:solidFill>
                <a:latin typeface="Inter"/>
              </a:rPr>
              <a:t>AI FRONTIER  ·  EECE 5642  · 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spc="80">
                <a:solidFill>
                  <a:srgbClr val="666666"/>
                </a:solidFill>
                <a:latin typeface="Inter"/>
              </a:rPr>
              <a:t>github.com/Avo-Sarkissian/AI-Frontier-Database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  <a:latin typeface="Inter"/>
              </a:rPr>
              <a:t>New AI models ship every week. The right pick can be the difference between a $5 and a $5,000 monthly bill.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77440"/>
            <a:ext cx="2650159" cy="36576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377440"/>
            <a:ext cx="2650159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2101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spc="160">
                <a:solidFill>
                  <a:srgbClr val="00D4FF"/>
                </a:solidFill>
                <a:latin typeface="Inter"/>
              </a:rPr>
              <a:t>DEVELOPERS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46120"/>
            <a:ext cx="2101519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DEDED"/>
                </a:solidFill>
                <a:latin typeface="Inter"/>
              </a:rPr>
              <a:t>Pick the cheapest model that still does the job. Not every task needs the smartest model.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63391" y="2377440"/>
            <a:ext cx="2650159" cy="36576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63391" y="2377440"/>
            <a:ext cx="2650159" cy="45720"/>
          </a:xfrm>
          <a:prstGeom prst="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7711" y="2697480"/>
            <a:ext cx="2101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spc="160">
                <a:solidFill>
                  <a:srgbClr val="C084FC"/>
                </a:solidFill>
                <a:latin typeface="Inter"/>
              </a:rPr>
              <a:t>RESEARCHERS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711" y="3246120"/>
            <a:ext cx="2101519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DEDED"/>
                </a:solidFill>
                <a:latin typeface="Inter"/>
              </a:rPr>
              <a:t>Track which models lead on what. The leaderboard shifts every few weeks.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8143" y="2377440"/>
            <a:ext cx="2650159" cy="36576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8143" y="2377440"/>
            <a:ext cx="2650159" cy="4572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52463" y="2697480"/>
            <a:ext cx="2101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spc="160">
                <a:solidFill>
                  <a:srgbClr val="22C55E"/>
                </a:solidFill>
                <a:latin typeface="Inter"/>
              </a:rPr>
              <a:t>BUSINESSES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2463" y="3246120"/>
            <a:ext cx="2101519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DEDED"/>
                </a:solidFill>
                <a:latin typeface="Inter"/>
              </a:rPr>
              <a:t>Estimate monthly cost before committing. Two similar models can differ 50× in price.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92895" y="2377440"/>
            <a:ext cx="2650159" cy="36576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92895" y="2377440"/>
            <a:ext cx="2650159" cy="45720"/>
          </a:xfrm>
          <a:prstGeom prst="rect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67215" y="2697480"/>
            <a:ext cx="2101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spc="160">
                <a:solidFill>
                  <a:srgbClr val="FB923C"/>
                </a:solidFill>
                <a:latin typeface="Inter"/>
              </a:rPr>
              <a:t>STUDENTS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67215" y="3246120"/>
            <a:ext cx="2101519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DEDED"/>
                </a:solidFill>
                <a:latin typeface="Inter"/>
              </a:rPr>
              <a:t>Know what runs on your laptop versus what needs an API key.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02 ·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4572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03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DEDED"/>
                </a:solidFill>
                <a:latin typeface="Inter"/>
              </a:rPr>
              <a:t>Where the data comes from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46304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60">
                <a:solidFill>
                  <a:srgbClr val="666666"/>
                </a:solidFill>
                <a:latin typeface="Inter"/>
              </a:rPr>
              <a:t>AI FRONTIER  ·  EECE 5642  · 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spc="80">
                <a:solidFill>
                  <a:srgbClr val="666666"/>
                </a:solidFill>
                <a:latin typeface="Inter"/>
              </a:rPr>
              <a:t>github.com/Avo-Sarkissian/AI-Frontier-Database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  <a:latin typeface="Inter"/>
              </a:rPr>
              <a:t>Two separate data sources: a live API for cloud models, and a curated catalog for local hardware.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240280"/>
            <a:ext cx="6766560" cy="21031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240280"/>
            <a:ext cx="6766560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46888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00D4FF"/>
                </a:solidFill>
                <a:latin typeface="Inter"/>
              </a:rPr>
              <a:t>ARTIFICIAL ANALYSIS API  ·  artificialanalysis.ai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788920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DEDED"/>
                </a:solidFill>
                <a:latin typeface="Inter"/>
              </a:rPr>
              <a:t>Cloud LLMs, image gen, video gen, embeddings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3383280"/>
            <a:ext cx="73152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15568" y="3291840"/>
            <a:ext cx="5852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Price, speed, latency, context window for every public model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767328"/>
            <a:ext cx="73152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5568" y="3675888"/>
            <a:ext cx="5852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Scraped hourly in the background. Each run saves a dated snapshot.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480560"/>
            <a:ext cx="6766560" cy="16459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480560"/>
            <a:ext cx="6766560" cy="45720"/>
          </a:xfrm>
          <a:prstGeom prst="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70916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C084FC"/>
                </a:solidFill>
                <a:latin typeface="Inter"/>
              </a:rPr>
              <a:t>MANUALLY CURATED  ·  Manufacturer spec sheets + HuggingFace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029200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DEDED"/>
                </a:solidFill>
                <a:latin typeface="Inter"/>
              </a:rPr>
              <a:t>Local open-weight models + GPU hardware specs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5559552"/>
            <a:ext cx="73152" cy="73152"/>
          </a:xfrm>
          <a:prstGeom prst="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5568" y="5486400"/>
            <a:ext cx="5852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GPU VRAM and memory bandwidth from official product pages (NVIDIA, AMD, Apple, Intel)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" y="5888736"/>
            <a:ext cx="73152" cy="73152"/>
          </a:xfrm>
          <a:prstGeom prst="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568" y="5815584"/>
            <a:ext cx="5852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Open-weight model catalog with parameter counts from HuggingFace model cards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43800" y="2240280"/>
            <a:ext cx="4160520" cy="3886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18120" y="251460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666666"/>
                </a:solidFill>
                <a:latin typeface="Inter"/>
              </a:rPr>
              <a:t>FRESHNESS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18120" y="2880360"/>
            <a:ext cx="3611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00D4FF"/>
                </a:solidFill>
                <a:latin typeface="Inter"/>
              </a:rPr>
              <a:t>1 hr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365760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Cloud model refresh interval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818120" y="4114799"/>
            <a:ext cx="3611880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818120" y="4251960"/>
            <a:ext cx="3611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EDEDED"/>
                </a:solidFill>
                <a:latin typeface="Inter"/>
              </a:rPr>
              <a:t>30+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18120" y="502920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Daily snapshots on file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818120" y="5394960"/>
            <a:ext cx="3611880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818120" y="553212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666666"/>
                </a:solidFill>
                <a:latin typeface="Inter"/>
              </a:rPr>
              <a:t>LOCAL CATALOG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18120" y="5733288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DEDED"/>
                </a:solidFill>
                <a:latin typeface="Inter"/>
              </a:rPr>
              <a:t>Static  ·  updated when new models release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03 · SCORING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4572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04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DEDED"/>
                </a:solidFill>
                <a:latin typeface="Inter"/>
              </a:rPr>
              <a:t>How the intelligence score works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46304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60">
                <a:solidFill>
                  <a:srgbClr val="666666"/>
                </a:solidFill>
                <a:latin typeface="Inter"/>
              </a:rPr>
              <a:t>AI FRONTIER  ·  EECE 5642  · 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spc="80">
                <a:solidFill>
                  <a:srgbClr val="666666"/>
                </a:solidFill>
                <a:latin typeface="Inter"/>
              </a:rPr>
              <a:t>github.com/Avo-Sarkissian/AI-Frontier-Database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  <a:latin typeface="Inter"/>
              </a:rPr>
              <a:t>A single 0–100 number, made by averaging several public AI tests so no single benchmark dominates.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240280"/>
            <a:ext cx="2650159" cy="28346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240280"/>
            <a:ext cx="2650159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60320"/>
            <a:ext cx="21015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spc="160">
                <a:solidFill>
                  <a:srgbClr val="00D4FF"/>
                </a:solidFill>
                <a:latin typeface="Inter"/>
              </a:rPr>
              <a:t>REASONING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017520"/>
            <a:ext cx="2101519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DEDED"/>
                </a:solidFill>
                <a:latin typeface="Inter"/>
              </a:rPr>
              <a:t>General knowledge and step-by-step thinking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251960"/>
            <a:ext cx="21015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666666"/>
                </a:solidFill>
                <a:latin typeface="Inter"/>
              </a:rPr>
              <a:t>EXAMPLES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480560"/>
            <a:ext cx="2101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MMLU-Pro, GPQA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63391" y="2240280"/>
            <a:ext cx="2650159" cy="28346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63391" y="2240280"/>
            <a:ext cx="2650159" cy="45720"/>
          </a:xfrm>
          <a:prstGeom prst="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37711" y="2560320"/>
            <a:ext cx="21015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spc="160">
                <a:solidFill>
                  <a:srgbClr val="C084FC"/>
                </a:solidFill>
                <a:latin typeface="Inter"/>
              </a:rPr>
              <a:t>CODING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7711" y="3017520"/>
            <a:ext cx="2101519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DEDED"/>
                </a:solidFill>
                <a:latin typeface="Inter"/>
              </a:rPr>
              <a:t>Writing and debugging real programs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7711" y="4251960"/>
            <a:ext cx="21015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666666"/>
                </a:solidFill>
                <a:latin typeface="Inter"/>
              </a:rPr>
              <a:t>EXAMPLES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37711" y="4480560"/>
            <a:ext cx="2101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LiveCodeBench, SciCode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8143" y="2240280"/>
            <a:ext cx="2650159" cy="28346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8143" y="2240280"/>
            <a:ext cx="2650159" cy="4572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52463" y="2560320"/>
            <a:ext cx="21015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spc="160">
                <a:solidFill>
                  <a:srgbClr val="22C55E"/>
                </a:solidFill>
                <a:latin typeface="Inter"/>
              </a:rPr>
              <a:t>MATH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2463" y="3017520"/>
            <a:ext cx="2101519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DEDED"/>
                </a:solidFill>
                <a:latin typeface="Inter"/>
              </a:rPr>
              <a:t>Multi-step quantitative problems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2463" y="4251960"/>
            <a:ext cx="21015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666666"/>
                </a:solidFill>
                <a:latin typeface="Inter"/>
              </a:rPr>
              <a:t>EXAMPLES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2463" y="4480560"/>
            <a:ext cx="2101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AIME, MATH-500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92895" y="2240280"/>
            <a:ext cx="2650159" cy="28346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992895" y="2240280"/>
            <a:ext cx="2650159" cy="45720"/>
          </a:xfrm>
          <a:prstGeom prst="rect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67215" y="2560320"/>
            <a:ext cx="21015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spc="160">
                <a:solidFill>
                  <a:srgbClr val="FB923C"/>
                </a:solidFill>
                <a:latin typeface="Inter"/>
              </a:rPr>
              <a:t>KNOWLEDGE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67215" y="3017520"/>
            <a:ext cx="2101519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DEDED"/>
                </a:solidFill>
                <a:latin typeface="Inter"/>
              </a:rPr>
              <a:t>Recall and synthesis across many fields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7215" y="4251960"/>
            <a:ext cx="21015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666666"/>
                </a:solidFill>
                <a:latin typeface="Inter"/>
              </a:rPr>
              <a:t>EXAMPLES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67215" y="4480560"/>
            <a:ext cx="2101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Humanity's Last Exam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5349240"/>
            <a:ext cx="11094415" cy="8229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55321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00D4FF"/>
                </a:solidFill>
                <a:latin typeface="Inter"/>
              </a:rPr>
              <a:t>WHY AVERAGE THEM?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788152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8888"/>
                </a:solidFill>
                <a:latin typeface="Inter"/>
              </a:rPr>
              <a:t>One number rewards well-rounded models and lets you compare cloud and local models on the same scale.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941832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04 ·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4572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05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DEDED"/>
                </a:solidFill>
                <a:latin typeface="Inter"/>
              </a:rPr>
              <a:t>How it's built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46304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60">
                <a:solidFill>
                  <a:srgbClr val="666666"/>
                </a:solidFill>
                <a:latin typeface="Inter"/>
              </a:rPr>
              <a:t>AI FRONTIER  ·  EECE 5642  · 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spc="80">
                <a:solidFill>
                  <a:srgbClr val="666666"/>
                </a:solidFill>
                <a:latin typeface="Inter"/>
              </a:rPr>
              <a:t>github.com/Avo-Sarkissian/AI-Frontier-Database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  <a:latin typeface="Inter"/>
              </a:rPr>
              <a:t>Built in Python, hosted on Render. No JavaScript, no build step.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148840"/>
            <a:ext cx="2101839" cy="3749039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48840"/>
            <a:ext cx="2101839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96312"/>
            <a:ext cx="16446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EDEDED"/>
                </a:solidFill>
                <a:latin typeface="Inter"/>
              </a:rPr>
              <a:t>Dash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08960"/>
            <a:ext cx="16446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00D4FF"/>
                </a:solidFill>
                <a:latin typeface="Inter"/>
              </a:rPr>
              <a:t>WEB FRAMEWORK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520440"/>
            <a:ext cx="1644639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8888"/>
                </a:solidFill>
                <a:latin typeface="Inter"/>
              </a:rPr>
              <a:t>Turns Python functions into a live interactive site. Handles tabs, filters, and callbacks.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96783" y="2148840"/>
            <a:ext cx="2101839" cy="3749039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96783" y="2148840"/>
            <a:ext cx="2101839" cy="45720"/>
          </a:xfrm>
          <a:prstGeom prst="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25383" y="2496312"/>
            <a:ext cx="16446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EDEDED"/>
                </a:solidFill>
                <a:latin typeface="Inter"/>
              </a:rPr>
              <a:t>Plotly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25383" y="3108960"/>
            <a:ext cx="16446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C084FC"/>
                </a:solidFill>
                <a:latin typeface="Inter"/>
              </a:rPr>
              <a:t>CHARTS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25383" y="3520440"/>
            <a:ext cx="1644639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8888"/>
                </a:solidFill>
                <a:latin typeface="Inter"/>
              </a:rPr>
              <a:t>Every chart in the dashboard. Interactive, hoverable, and styled from one config.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44927" y="2148840"/>
            <a:ext cx="2101839" cy="3749039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44927" y="2148840"/>
            <a:ext cx="2101839" cy="4572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73527" y="2496312"/>
            <a:ext cx="16446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EDEDED"/>
                </a:solidFill>
                <a:latin typeface="Inter"/>
              </a:rPr>
              <a:t>Pandas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73527" y="3108960"/>
            <a:ext cx="16446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22C55E"/>
                </a:solidFill>
                <a:latin typeface="Inter"/>
              </a:rPr>
              <a:t>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73527" y="3520440"/>
            <a:ext cx="1644639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8888"/>
                </a:solidFill>
                <a:latin typeface="Inter"/>
              </a:rPr>
              <a:t>Loads the CSV, runs filters, and computes the Pareto frontier and value scores.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93071" y="2148840"/>
            <a:ext cx="2101839" cy="3749039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93071" y="2148840"/>
            <a:ext cx="2101839" cy="45720"/>
          </a:xfrm>
          <a:prstGeom prst="rect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21671" y="2496312"/>
            <a:ext cx="16446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EDEDED"/>
                </a:solidFill>
                <a:latin typeface="Inter"/>
              </a:rPr>
              <a:t>Requests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21671" y="3108960"/>
            <a:ext cx="16446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FB923C"/>
                </a:solidFill>
                <a:latin typeface="Inter"/>
              </a:rPr>
              <a:t>LIVE SCRAPER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1671" y="3520440"/>
            <a:ext cx="1644639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8888"/>
                </a:solidFill>
                <a:latin typeface="Inter"/>
              </a:rPr>
              <a:t>Plain HTTP call to the Artificial Analysis API every hour. No browser needed.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41215" y="2148840"/>
            <a:ext cx="2101839" cy="3749039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41215" y="2148840"/>
            <a:ext cx="2101839" cy="457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69815" y="2496312"/>
            <a:ext cx="16446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EDEDED"/>
                </a:solidFill>
                <a:latin typeface="Inter"/>
              </a:rPr>
              <a:t>Render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69815" y="3108960"/>
            <a:ext cx="16446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7C3AED"/>
                </a:solidFill>
                <a:latin typeface="Inter"/>
              </a:rPr>
              <a:t>HOSTING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69815" y="3520440"/>
            <a:ext cx="1644639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8888"/>
                </a:solidFill>
                <a:latin typeface="Inter"/>
              </a:rPr>
              <a:t>Cloud platform that runs the app 24/7 from the GitHub repo. Redeploys on every push.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1641348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05 · VISUALIZATIONS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4572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06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DEDED"/>
                </a:solidFill>
                <a:latin typeface="Inter"/>
              </a:rPr>
              <a:t>Charts and the choices behind them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46304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60">
                <a:solidFill>
                  <a:srgbClr val="666666"/>
                </a:solidFill>
                <a:latin typeface="Inter"/>
              </a:rPr>
              <a:t>AI FRONTIER  ·  EECE 5642  · 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spc="80">
                <a:solidFill>
                  <a:srgbClr val="666666"/>
                </a:solidFill>
                <a:latin typeface="Inter"/>
              </a:rPr>
              <a:t>github.com/Avo-Sarkissian/AI-Frontier-Database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783080"/>
            <a:ext cx="5760720" cy="44348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01168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00D4FF"/>
                </a:solidFill>
                <a:latin typeface="Inter"/>
              </a:rPr>
              <a:t>CHART TYPES USED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560320"/>
            <a:ext cx="73152" cy="41148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51460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DEDED"/>
                </a:solidFill>
                <a:latin typeface="Inter"/>
              </a:rPr>
              <a:t>Bubble scatter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78892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Inter"/>
              </a:rPr>
              <a:t>Three things at once: price, quality, speed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3154680"/>
            <a:ext cx="73152" cy="41148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10896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DEDED"/>
                </a:solidFill>
                <a:latin typeface="Inter"/>
              </a:rPr>
              <a:t>Pareto frontier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38328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Inter"/>
              </a:rPr>
              <a:t>Highlights the best deals on the curve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749040"/>
            <a:ext cx="73152" cy="41148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370332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DEDED"/>
                </a:solidFill>
                <a:latin typeface="Inter"/>
              </a:rPr>
              <a:t>Treemap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97764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Inter"/>
              </a:rPr>
              <a:t>One tile per provider, sized by model count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4343400"/>
            <a:ext cx="73152" cy="41148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429768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DEDED"/>
                </a:solidFill>
                <a:latin typeface="Inter"/>
              </a:rPr>
              <a:t>Horizontal bars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57200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Inter"/>
              </a:rPr>
              <a:t>Best for ranked comparisons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4937760"/>
            <a:ext cx="73152" cy="41148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89204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DEDED"/>
                </a:solidFill>
                <a:latin typeface="Inter"/>
              </a:rPr>
              <a:t>Radar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16636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Inter"/>
              </a:rPr>
              <a:t>Compare 5 models on 5 dimensions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5532120"/>
            <a:ext cx="73152" cy="41148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548640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DEDED"/>
                </a:solidFill>
                <a:latin typeface="Inter"/>
              </a:rPr>
              <a:t>Bump chart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576072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Inter"/>
              </a:rPr>
              <a:t>Tracks how rankings move over time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92240" y="1783080"/>
            <a:ext cx="5166360" cy="44348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0" y="201168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00D4FF"/>
                </a:solidFill>
                <a:latin typeface="Inter"/>
              </a:rPr>
              <a:t>DESIGN CHOICES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2468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00D4FF"/>
                </a:solidFill>
                <a:latin typeface="Inter"/>
              </a:rP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69480" y="2468880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DEDED"/>
                </a:solidFill>
                <a:latin typeface="Inter"/>
              </a:rPr>
              <a:t>Data-ink ratio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69480" y="2816352"/>
            <a:ext cx="4160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8888"/>
                </a:solidFill>
                <a:latin typeface="Inter"/>
              </a:rPr>
              <a:t>Most pixels should encode data. Removed gridlines, frames, and a long legend.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33832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00D4FF"/>
                </a:solidFill>
                <a:latin typeface="Inter"/>
              </a:rP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69480" y="3383280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DEDED"/>
                </a:solidFill>
                <a:latin typeface="Inter"/>
              </a:rPr>
              <a:t>Color with backup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69480" y="3730752"/>
            <a:ext cx="4160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8888"/>
                </a:solidFill>
                <a:latin typeface="Inter"/>
              </a:rPr>
              <a:t>Provider has both a color AND a marker shape, readable for colorblind viewers.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0" y="42976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00D4FF"/>
                </a:solidFill>
                <a:latin typeface="Inter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69480" y="4297680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DEDED"/>
                </a:solidFill>
                <a:latin typeface="Inter"/>
              </a:rPr>
              <a:t>Visual grouping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69480" y="4645152"/>
            <a:ext cx="4160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8888"/>
                </a:solidFill>
                <a:latin typeface="Inter"/>
              </a:rPr>
              <a:t>Filters sit next to the chart they control. Shared colors carry across all 11 tabs.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0" y="5212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00D4FF"/>
                </a:solidFill>
                <a:latin typeface="Inter"/>
              </a:rPr>
              <a:t>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69480" y="5212080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DEDED"/>
                </a:solidFill>
                <a:latin typeface="Inter"/>
              </a:rPr>
              <a:t>Right chart for the job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69480" y="5559552"/>
            <a:ext cx="4160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8888"/>
                </a:solidFill>
                <a:latin typeface="Inter"/>
              </a:rPr>
              <a:t>Bars for ranking, log scale for prices that span 1000×, small multiples to avoid clutter.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1641348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06 · LOCAL + HYBRID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4572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07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DEDED"/>
                </a:solidFill>
                <a:latin typeface="Inter"/>
              </a:rPr>
              <a:t>Open weights and Claude Code stacks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46304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60">
                <a:solidFill>
                  <a:srgbClr val="666666"/>
                </a:solidFill>
                <a:latin typeface="Inter"/>
              </a:rPr>
              <a:t>AI FRONTIER  ·  EECE 5642  · 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spc="80">
                <a:solidFill>
                  <a:srgbClr val="666666"/>
                </a:solidFill>
                <a:latin typeface="Inter"/>
              </a:rPr>
              <a:t>github.com/Avo-Sarkissian/AI-Frontier-Database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8888"/>
                </a:solidFill>
                <a:latin typeface="Inter"/>
              </a:rPr>
              <a:t>Not everything has to live on the cloud. The dashboard also tracks open-weight models you can run yourself, and recommends hybrid setups for tools like Claude Code / openclaw.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606040"/>
            <a:ext cx="5486400" cy="35204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88036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00D4FF"/>
                </a:solidFill>
                <a:latin typeface="Inter"/>
              </a:rPr>
              <a:t>RUN LOCAL TAB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0040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EDEDED"/>
                </a:solidFill>
                <a:latin typeface="Inter"/>
              </a:rPr>
              <a:t>Will it run on my machine?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50792"/>
            <a:ext cx="91440" cy="9144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39319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Pick your GPU and how much you want to compress the model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507992"/>
            <a:ext cx="91440" cy="9144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3891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See which open-weight models will actually fit in your VRAM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965192"/>
            <a:ext cx="91440" cy="9144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8463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Get an estimated speed in tokens/second for your hardware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5422392"/>
            <a:ext cx="91440" cy="9144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3035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Compare every open model on the same intelligence score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2606040"/>
            <a:ext cx="5440680" cy="35204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2880360"/>
            <a:ext cx="4892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00D4FF"/>
                </a:solidFill>
                <a:latin typeface="Inter"/>
              </a:rPr>
              <a:t>HYBRID STACK  ·  CLAUDE CODE / OPENCLAW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3200400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DEDED"/>
                </a:solidFill>
                <a:latin typeface="Inter"/>
              </a:rPr>
              <a:t>Three tiers, mix cloud + local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37960" y="3977640"/>
            <a:ext cx="4892040" cy="64008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37960" y="3977640"/>
            <a:ext cx="54864" cy="640080"/>
          </a:xfrm>
          <a:prstGeom prst="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0840" y="409651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C084FC"/>
                </a:solidFill>
                <a:latin typeface="Inter"/>
              </a:rPr>
              <a:t>REASONING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430682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DEDED"/>
                </a:solidFill>
                <a:latin typeface="Inter"/>
              </a:rPr>
              <a:t>Plans the work and delegates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417880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88888"/>
                </a:solidFill>
                <a:latin typeface="Inter"/>
              </a:rPr>
              <a:t>Cloud API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37960" y="4690872"/>
            <a:ext cx="4892040" cy="64008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37960" y="4690872"/>
            <a:ext cx="54864" cy="64008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20840" y="480974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00D4FF"/>
                </a:solidFill>
                <a:latin typeface="Inter"/>
              </a:rPr>
              <a:t>BALANCED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0840" y="502005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DEDED"/>
                </a:solidFill>
                <a:latin typeface="Inter"/>
              </a:rPr>
              <a:t>Writes the actual code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0" y="489204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88888"/>
                </a:solidFill>
                <a:latin typeface="Inter"/>
              </a:rPr>
              <a:t>Cloud API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37960" y="5404104"/>
            <a:ext cx="4892040" cy="64008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37960" y="5404104"/>
            <a:ext cx="54864" cy="64008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20840" y="552297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22C55E"/>
                </a:solidFill>
                <a:latin typeface="Inter"/>
              </a:rPr>
              <a:t>FAST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573328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DEDED"/>
                </a:solidFill>
                <a:latin typeface="Inter"/>
              </a:rPr>
              <a:t>Handles cheap, high-volume tasks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41280" y="560527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88888"/>
                </a:solidFill>
                <a:latin typeface="Inter"/>
              </a:rPr>
              <a:t>Local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1563624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08 ·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4572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08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DEDED"/>
                </a:solidFill>
                <a:latin typeface="Inter"/>
              </a:rPr>
              <a:t>What's new here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46304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60">
                <a:solidFill>
                  <a:srgbClr val="666666"/>
                </a:solidFill>
                <a:latin typeface="Inter"/>
              </a:rPr>
              <a:t>AI FRONTIER  ·  EECE 5642  · 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spc="80">
                <a:solidFill>
                  <a:srgbClr val="666666"/>
                </a:solidFill>
                <a:latin typeface="Inter"/>
              </a:rPr>
              <a:t>github.com/Avo-Sarkissian/AI-Frontier-Database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  <a:latin typeface="Inter"/>
              </a:rPr>
              <a:t>Most leaderboards rank models. Most pricing pages don't include quality. AI Frontier does both, live.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31720"/>
            <a:ext cx="2650159" cy="32004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331720"/>
            <a:ext cx="2650159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651760"/>
            <a:ext cx="210151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60">
                <a:solidFill>
                  <a:srgbClr val="00D4FF"/>
                </a:solidFill>
                <a:latin typeface="Inter"/>
              </a:rPr>
              <a:t>LIVE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108960"/>
            <a:ext cx="2101519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Hourly scrape of 255+ models. No manual refresh, no stale numbers. Over 30 daily snapshots preserved for trend analysis.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63391" y="2331720"/>
            <a:ext cx="2650159" cy="32004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63391" y="2331720"/>
            <a:ext cx="2650159" cy="45720"/>
          </a:xfrm>
          <a:prstGeom prst="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7711" y="2651760"/>
            <a:ext cx="210151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60">
                <a:solidFill>
                  <a:srgbClr val="C084FC"/>
                </a:solidFill>
                <a:latin typeface="Inter"/>
              </a:rPr>
              <a:t>CROSS-MODAL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711" y="3108960"/>
            <a:ext cx="2101519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Text, image generation, and video generation in one dashboard. Local open-weight models alongside paid APIs — a comparison that doesn't exist in one place elsewhere.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8143" y="2331720"/>
            <a:ext cx="2650159" cy="32004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8143" y="2331720"/>
            <a:ext cx="2650159" cy="4572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52463" y="2651760"/>
            <a:ext cx="210151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60">
                <a:solidFill>
                  <a:srgbClr val="22C55E"/>
                </a:solidFill>
                <a:latin typeface="Inter"/>
              </a:rPr>
              <a:t>HYBRID STACK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2463" y="3108960"/>
            <a:ext cx="2101519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Agent Stack tab recommends a three-tier model setup (reasoning, balanced, fast) for agentic workflows. Practical output, not just a ranking.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92895" y="2331720"/>
            <a:ext cx="2650159" cy="32004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92895" y="2331720"/>
            <a:ext cx="2650159" cy="45720"/>
          </a:xfrm>
          <a:prstGeom prst="rect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67215" y="2651760"/>
            <a:ext cx="210151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60">
                <a:solidFill>
                  <a:srgbClr val="FB923C"/>
                </a:solidFill>
                <a:latin typeface="Inter"/>
              </a:rPr>
              <a:t>OPEN SOURCE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67215" y="3108960"/>
            <a:ext cx="2101519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Full pipeline — scraper, scoring, all eleven visualization modules — is public on GitHub and redeployable.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1019556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09 · FUTURE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4572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09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DEDED"/>
                </a:solidFill>
                <a:latin typeface="Inter"/>
              </a:rPr>
              <a:t>What comes next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46304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60">
                <a:solidFill>
                  <a:srgbClr val="666666"/>
                </a:solidFill>
                <a:latin typeface="Inter"/>
              </a:rPr>
              <a:t>AI FRONTIER  ·  EECE 5642  · 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spc="80">
                <a:solidFill>
                  <a:srgbClr val="666666"/>
                </a:solidFill>
                <a:latin typeface="Inter"/>
              </a:rPr>
              <a:t>github.com/Avo-Sarkissian/AI-Frontier-Database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  <a:latin typeface="Inter"/>
              </a:rPr>
              <a:t>The infrastructure is in place — most of these are data and UI additions, not architecture changes.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31720"/>
            <a:ext cx="11094415" cy="65836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331720"/>
            <a:ext cx="54864" cy="658368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4144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DEDED"/>
                </a:solidFill>
                <a:latin typeface="Inter"/>
              </a:rPr>
              <a:t>Per-category scores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40" y="2441448"/>
            <a:ext cx="8351215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Reasoning, coding, math, and knowledge breakdowns are collected but not yet surfaced in the Compare tab. Adding them makes model selection more precise.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099816"/>
            <a:ext cx="11094415" cy="65836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099816"/>
            <a:ext cx="54864" cy="658368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20954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DEDED"/>
                </a:solidFill>
                <a:latin typeface="Inter"/>
              </a:rPr>
              <a:t>Cost modeling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40" y="3209544"/>
            <a:ext cx="8351215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The Budget tab estimates from token count only. Caching multipliers and multi-turn conversation overhead matter in production — these should be factored in.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867912"/>
            <a:ext cx="11094415" cy="65836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867912"/>
            <a:ext cx="54864" cy="658368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97764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DEDED"/>
                </a:solidFill>
                <a:latin typeface="Inter"/>
              </a:rPr>
              <a:t>Latency monitoring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977640"/>
            <a:ext cx="8351215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Track actual measured time-to-first-token by region rather than relying on published medians. Provider SLAs vary and are not always reflected in spec sheets.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636008"/>
            <a:ext cx="11094415" cy="65836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4636008"/>
            <a:ext cx="54864" cy="658368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74573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DEDED"/>
                </a:solidFill>
                <a:latin typeface="Inter"/>
              </a:rPr>
              <a:t>Saved comparisons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63240" y="4745736"/>
            <a:ext cx="8351215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Let users bookmark a set of models and return to a pre-filtered view. Currently everything resets on refresh.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404104"/>
            <a:ext cx="11094415" cy="65836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5404104"/>
            <a:ext cx="54864" cy="658368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51383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DEDED"/>
                </a:solidFill>
                <a:latin typeface="Inter"/>
              </a:rPr>
              <a:t>Mobile layout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63240" y="5513832"/>
            <a:ext cx="8351215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The dashboard is usable on desktop but not optimized for smaller screens. Several tabs would benefit from a stacked single-column layout on mobile.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10 · REFS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4572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10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DEDED"/>
                </a:solidFill>
                <a:latin typeface="Inter"/>
              </a:rPr>
              <a:t>References and contributions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46304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60">
                <a:solidFill>
                  <a:srgbClr val="666666"/>
                </a:solidFill>
                <a:latin typeface="Inter"/>
              </a:rPr>
              <a:t>AI FRONTIER  ·  EECE 5642  · 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spc="80">
                <a:solidFill>
                  <a:srgbClr val="666666"/>
                </a:solidFill>
                <a:latin typeface="Inter"/>
              </a:rPr>
              <a:t>github.com/Avo-Sarkissian/AI-Frontier-Database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783080"/>
            <a:ext cx="7132320" cy="44348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057400"/>
            <a:ext cx="6583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00D4FF"/>
                </a:solidFill>
                <a:latin typeface="Inter"/>
              </a:rPr>
              <a:t>REFERENCES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DEDED"/>
                </a:solidFill>
                <a:latin typeface="Inter"/>
              </a:rPr>
              <a:t>[1]  Artificial Analysis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670048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artificialanalysis.ai — live pricing and benchmark aggregation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9260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DEDED"/>
                </a:solidFill>
                <a:latin typeface="Inter"/>
              </a:rPr>
              <a:t>[2]  MMLU-Pro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127248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Wang et al., 2024. MMLU-Pro: Massive Multitask Language Understanding Pro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3832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DEDED"/>
                </a:solidFill>
                <a:latin typeface="Inter"/>
              </a:rPr>
              <a:t>[3]  GPQA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584448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Rein et al., 2023. GPQA: A Graduate-Level Google-Proof Q&amp;A 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8404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DEDED"/>
                </a:solidFill>
                <a:latin typeface="Inter"/>
              </a:rPr>
              <a:t>[4]  LiveCodeBench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041648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Jain et al., 2024. LiveCodeBench: Holistic and Contamination Free Evaluation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297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DEDED"/>
                </a:solidFill>
                <a:latin typeface="Inter"/>
              </a:rPr>
              <a:t>[5]  AIME / MATH-500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498848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AMC/AIME competition problems; Hendrycks et al., MATH dataset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7548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DEDED"/>
                </a:solidFill>
                <a:latin typeface="Inter"/>
              </a:rPr>
              <a:t>[6]  Humanity's Last Exam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956048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Scale AI, 2025. Humanity's Last Exam benchmark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2120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DEDED"/>
                </a:solidFill>
                <a:latin typeface="Inter"/>
              </a:rPr>
              <a:t>[7]  HuggingFace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5413248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huggingface.co — open-weight model cards and parameter counts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56692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DEDED"/>
                </a:solidFill>
                <a:latin typeface="Inter"/>
              </a:rPr>
              <a:t>[8]  Plotly Dash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870448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plotly.com/dash — Python web framework for interactive visualizations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09560" y="1783080"/>
            <a:ext cx="3749039" cy="44348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83880" y="2057400"/>
            <a:ext cx="32003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00D4FF"/>
                </a:solidFill>
                <a:latin typeface="Inter"/>
              </a:rPr>
              <a:t>MEMBER CONTRIBUTIONS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880" y="2468880"/>
            <a:ext cx="320039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DEDED"/>
                </a:solidFill>
                <a:latin typeface="Inter"/>
              </a:rPr>
              <a:t>Avo Sarkissian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83880" y="2880360"/>
            <a:ext cx="320039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Northeastern University · EECE 5642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3447288"/>
            <a:ext cx="73152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39912" y="3337560"/>
            <a:ext cx="301751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Data pipeline + hourly scraper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0" y="3831336"/>
            <a:ext cx="73152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39912" y="3721608"/>
            <a:ext cx="301751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Composite intelligence scoring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0" y="4215384"/>
            <a:ext cx="73152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39912" y="4105656"/>
            <a:ext cx="301751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All 11 visualization modules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0" y="4599432"/>
            <a:ext cx="73152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39912" y="4489704"/>
            <a:ext cx="301751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VRAM compatibility calculator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0" y="4983480"/>
            <a:ext cx="73152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39912" y="4873752"/>
            <a:ext cx="301751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Hybrid stack recommender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0" y="5367528"/>
            <a:ext cx="73152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39912" y="5257800"/>
            <a:ext cx="301751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Render deployment + CI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29600" y="5751576"/>
            <a:ext cx="73152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39912" y="5641848"/>
            <a:ext cx="301751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Presentation + report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486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07 · 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5943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11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0" b="1">
                <a:solidFill>
                  <a:srgbClr val="EDEDED"/>
                </a:solidFill>
                <a:latin typeface="Inter"/>
              </a:rPr>
              <a:t>Live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889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0D4FF"/>
                </a:solidFill>
                <a:latin typeface="Inter"/>
              </a:rPr>
              <a:t>→ localhost:8050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023360"/>
            <a:ext cx="2109155" cy="10972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4023360"/>
            <a:ext cx="2109155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251960"/>
            <a:ext cx="17433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20">
                <a:solidFill>
                  <a:srgbClr val="EDEDED"/>
                </a:solidFill>
                <a:latin typeface="Inter"/>
              </a:rPr>
              <a:t>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572000"/>
            <a:ext cx="17433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Cost vs. quality at a glance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94955" y="4023360"/>
            <a:ext cx="2109155" cy="10972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94955" y="4023360"/>
            <a:ext cx="2109155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77835" y="4251960"/>
            <a:ext cx="17433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20">
                <a:solidFill>
                  <a:srgbClr val="EDEDED"/>
                </a:solidFill>
                <a:latin typeface="Inter"/>
              </a:rPr>
              <a:t>RANKINGS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7835" y="4572000"/>
            <a:ext cx="17433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Top models by score and value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41270" y="4023360"/>
            <a:ext cx="2109155" cy="10972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41270" y="4023360"/>
            <a:ext cx="2109155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24150" y="4251960"/>
            <a:ext cx="17433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20">
                <a:solidFill>
                  <a:srgbClr val="EDEDED"/>
                </a:solidFill>
                <a:latin typeface="Inter"/>
              </a:rPr>
              <a:t>COMPARE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24150" y="4572000"/>
            <a:ext cx="17433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Five models head to head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87585" y="4023360"/>
            <a:ext cx="2109155" cy="10972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87585" y="4023360"/>
            <a:ext cx="2109155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70465" y="4251960"/>
            <a:ext cx="17433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20">
                <a:solidFill>
                  <a:srgbClr val="EDEDED"/>
                </a:solidFill>
                <a:latin typeface="Inter"/>
              </a:rPr>
              <a:t>RUN LOCAL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70465" y="4572000"/>
            <a:ext cx="17433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Pick a GPU, see what fits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33900" y="4023360"/>
            <a:ext cx="2109155" cy="10972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533900" y="4023360"/>
            <a:ext cx="2109155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16780" y="4251960"/>
            <a:ext cx="17433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20">
                <a:solidFill>
                  <a:srgbClr val="EDEDED"/>
                </a:solidFill>
                <a:latin typeface="Inter"/>
              </a:rPr>
              <a:t>AGENT STACK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16780" y="4572000"/>
            <a:ext cx="17433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Build a hybrid Claude Code stack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48640" y="571500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48640" y="59436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666666"/>
                </a:solidFill>
                <a:latin typeface="Inter"/>
              </a:rPr>
              <a:t>DATA  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80160" y="59436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Inter"/>
              </a:rPr>
              <a:t>artificialanalysis.ai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2179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666666"/>
                </a:solidFill>
                <a:latin typeface="Inter"/>
              </a:rPr>
              <a:t>CODE  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" y="62179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Inter"/>
              </a:rPr>
              <a:t>github.com/Avo-Sarkissian/AI-Frontier-Database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