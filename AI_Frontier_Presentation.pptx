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109728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200">
                <a:solidFill>
                  <a:srgbClr val="EDEDED"/>
                </a:solidFill>
                <a:latin typeface="Inter"/>
              </a:rPr>
              <a:t>AI FRONTIER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62895" y="4572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LIVE DEMO  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200">
                <a:solidFill>
                  <a:srgbClr val="EDEDED"/>
                </a:solidFill>
                <a:latin typeface="Inter"/>
              </a:rPr>
              <a:t>DATA VISUALIZATION  ·  EECE 5642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EDEDED"/>
                </a:solidFill>
                <a:latin typeface="Inter"/>
              </a:rPr>
              <a:t>Mapping the AI Model Landscape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DEDED"/>
                </a:solidFill>
                <a:latin typeface="Inter"/>
              </a:rPr>
              <a:t>Comparing 255+ AI models on cost, speed, and intelligence,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EDEDED"/>
                </a:solidFill>
                <a:latin typeface="Inter"/>
              </a:rPr>
              <a:t>in one place, updated every hour.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53492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255+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MODELS TRACKED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2243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2243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EDEDED"/>
                </a:solidFill>
                <a:latin typeface="Inter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INTERACTIVE TABS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451" y="5532120"/>
            <a:ext cx="277360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D4FF"/>
                </a:solidFill>
                <a:latin typeface="Inter"/>
              </a:rPr>
              <a:t>HOURLY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451" y="6126480"/>
            <a:ext cx="27736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DATA REFRESH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Avo Sarkissian  ·  Northeastern University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01 ·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Why this matters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New AI models ship every week. The right pick can be the difference between a $5 and a $5,000 monthly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DEVELOPERS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Pick the cheapest model that still does the job. Not every task needs the smartest model.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3391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237744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7711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RESEARCHERS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711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Track which models lead on what. The leaderboard shifts every few weeks.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8143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8143" y="237744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2463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BUSINESSES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Estimate monthly cost before committing. Two similar models can differ 50× in price.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2895" y="2377440"/>
            <a:ext cx="2650159" cy="36576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92895" y="237744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67215" y="269748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STUDENTS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7215" y="3246120"/>
            <a:ext cx="2101519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Know what runs on your laptop versus what needs an API key.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Where the data comes from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Two separate data sources: a live API for cloud models, and a curated catalog for local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6766560" cy="21031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6766560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68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ARTIFICIAL ANALYSIS API  ·  artificialanalysis.ai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7889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Cloud LLMs, image gen, video gen,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383280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29184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Price, speed, latency, context window for every public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67328"/>
            <a:ext cx="73152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675888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Scraped hourly in the background. Each run saves a dated snapshot.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480560"/>
            <a:ext cx="6766560" cy="16459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80560"/>
            <a:ext cx="6766560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MANUALLY CURATED  ·  Manufacturer spec sheets + HuggingFace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DEDED"/>
                </a:solidFill>
                <a:latin typeface="Inter"/>
              </a:rPr>
              <a:t>Local open-weight models + GPU hardware specs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559552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5486400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GPU VRAM and memory bandwidth from official product pages (NVIDIA, AMD, Apple, Intel)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888736"/>
            <a:ext cx="73152" cy="73152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5815584"/>
            <a:ext cx="5852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Open-weight model catalog with parameter counts from HuggingFace model cards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240280"/>
            <a:ext cx="4160520" cy="3886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20" y="2514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FRESHNESS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8803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00D4FF"/>
                </a:solidFill>
                <a:latin typeface="Inter"/>
              </a:rPr>
              <a:t>1 hr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36576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Cloud model refresh interval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18120" y="4114799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818120" y="4251960"/>
            <a:ext cx="3611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EDEDED"/>
                </a:solidFill>
                <a:latin typeface="Inter"/>
              </a:rPr>
              <a:t>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502920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Daily snapshots on file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18120" y="5394960"/>
            <a:ext cx="3611880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818120" y="553212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LOCAL CATALOG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5733288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Static  ·  updated when new models release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03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the intelligence score works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A single 0–100 number, made by averaging several public AI tests so no single benchmark dominates.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40280"/>
            <a:ext cx="265015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00D4FF"/>
                </a:solidFill>
                <a:latin typeface="Inter"/>
              </a:rPr>
              <a:t>REASONING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General knowledge and step-by-step thinking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MMLU-Pro, GPQA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3391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3391" y="2240280"/>
            <a:ext cx="265015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7711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C084FC"/>
                </a:solidFill>
                <a:latin typeface="Inter"/>
              </a:rPr>
              <a:t>CODING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7711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Writing and debugging real programs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7711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711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LiveCodeBench, SciCode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8143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8143" y="2240280"/>
            <a:ext cx="265015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22C55E"/>
                </a:solidFill>
                <a:latin typeface="Inter"/>
              </a:rPr>
              <a:t>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Multi-step quantitative problems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AIME, MATH-500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2895" y="2240280"/>
            <a:ext cx="2650159" cy="28346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2895" y="2240280"/>
            <a:ext cx="265015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67215" y="2560320"/>
            <a:ext cx="2101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FB923C"/>
                </a:solidFill>
                <a:latin typeface="Inter"/>
              </a:rPr>
              <a:t>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7215" y="3017520"/>
            <a:ext cx="2101519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DEDED"/>
                </a:solidFill>
                <a:latin typeface="Inter"/>
              </a:rPr>
              <a:t>Recall and synthesis across many fields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7215" y="4251960"/>
            <a:ext cx="21015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40">
                <a:solidFill>
                  <a:srgbClr val="666666"/>
                </a:solidFill>
                <a:latin typeface="Inter"/>
              </a:rPr>
              <a:t>EXAMPLES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7215" y="4480560"/>
            <a:ext cx="2101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EDEDED"/>
                </a:solidFill>
                <a:latin typeface="Inter"/>
              </a:rPr>
              <a:t>Humanity's Last Exam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532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WHY AVERAGE THEM?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788152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One number rewards well-rounded models and lets you compare cloud and local models on the same scale.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941832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04 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How it's built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Built in Python, hosted on Render. No JavaScript, no build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01839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Dash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WEB FRAMEWORK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Turns Python functions into a live interactive site. Handles tabs, filters, and callbacks.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6783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6783" y="2148840"/>
            <a:ext cx="2101839" cy="4572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383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5383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CHARTS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5383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Every chart in the dashboard. Interactive, hoverable, and styled from one config.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927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927" y="2148840"/>
            <a:ext cx="2101839" cy="45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73527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Pandas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3527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3527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Loads the CSV, runs filters, and computes the Pareto frontier and value scores.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3071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3071" y="2148840"/>
            <a:ext cx="2101839" cy="45720"/>
          </a:xfrm>
          <a:prstGeom prst="rect">
            <a:avLst/>
          </a:prstGeom>
          <a:solidFill>
            <a:srgbClr val="FB9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21671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Requests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1671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FB923C"/>
                </a:solidFill>
                <a:latin typeface="Inter"/>
              </a:rPr>
              <a:t>LIVE SCRAPER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1671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Plain HTTP call to the Artificial Analysis API every hour. No browser needed.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41215" y="2148840"/>
            <a:ext cx="2101839" cy="3749039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41215" y="2148840"/>
            <a:ext cx="2101839" cy="457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69815" y="2496312"/>
            <a:ext cx="16446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DEDED"/>
                </a:solidFill>
                <a:latin typeface="Inter"/>
              </a:rPr>
              <a:t>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69815" y="3108960"/>
            <a:ext cx="16446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7C3AED"/>
                </a:solidFill>
                <a:latin typeface="Inter"/>
              </a:rPr>
              <a:t>HOSTING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9815" y="3520440"/>
            <a:ext cx="1644639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Cloud platform that runs the app 24/7 from the GitHub repo. Redeploys on every push.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05 · VISUALIZATIONS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Charts and the choices behind them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576072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CHART TYPES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603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14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Bubble scatter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889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Three things at once: price, quality, speed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15468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0896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Pareto frontier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Highlights the best deals on the curve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74904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Treemap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977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One tile per provider, sized by model count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34340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9768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Horizontal bars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Best for ranked comparisons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93776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9204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Radar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663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Compare 5 models on 5 dimensions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532120"/>
            <a:ext cx="73152" cy="4114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4864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Bump chart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607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Tracks how rankings move over 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783080"/>
            <a:ext cx="5166360" cy="4434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201168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DESIGN CHOICES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468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4688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Data-ink 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8163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Most pixels should encode data. Removed gridlines, frames, and a long legend.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33832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33832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Color with backup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37307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Provider has both a color AND a marker shape, readable for colorblind viewers.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2976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42976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Visual grouping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6451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Filters sit next to the chart they control. Shared colors carry across all 11 tabs.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2120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40">
                <a:solidFill>
                  <a:srgbClr val="00D4FF"/>
                </a:solidFill>
                <a:latin typeface="Inte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52120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DEDED"/>
                </a:solidFill>
                <a:latin typeface="Inter"/>
              </a:rPr>
              <a:t>Right chart for the job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559552"/>
            <a:ext cx="4160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Bars for ranking, log scale for prices that span 1000×, small multiples to avoid clutter.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164134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06 · LOCAL +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4572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EDEDED"/>
                </a:solidFill>
                <a:latin typeface="Inter"/>
              </a:rPr>
              <a:t>Open weights and Claude Code stacks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46304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spc="160">
                <a:solidFill>
                  <a:srgbClr val="666666"/>
                </a:solidFill>
                <a:latin typeface="Inter"/>
              </a:rPr>
              <a:t>AI FRONTIER  ·  EECE 5642  · 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spc="80">
                <a:solidFill>
                  <a:srgbClr val="666666"/>
                </a:solidFill>
                <a:latin typeface="Inter"/>
              </a:rPr>
              <a:t>github.com/Avo-Sarkissian/AI-Frontier-Database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DED"/>
                </a:solidFill>
                <a:latin typeface="Inter"/>
              </a:rPr>
              <a:t>Not everything has to live on the cloud. The dashboard also tracks open-weight models you can run yourself, and recommends hybrid setups for tools like Claude Code / openclaw.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06040"/>
            <a:ext cx="548640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RUN LOCAL 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DEDED"/>
                </a:solidFill>
                <a:latin typeface="Inter"/>
              </a:rPr>
              <a:t>Will it run on my machine?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507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your GPU and how much you want to compress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5079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891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See which open-weight models will actually fit in your VRAM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9651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846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Get an estimated speed in tokens/second for your hardware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422392"/>
            <a:ext cx="9144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3035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Compare every open model on the same intelligence score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606040"/>
            <a:ext cx="5440680" cy="35204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288036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HYBRID STACK  ·  CLAUDE CODE / OPENCLAW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320040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DEDED"/>
                </a:solidFill>
                <a:latin typeface="Inter"/>
              </a:rPr>
              <a:t>Three tiers, mix cloud + local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977640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37960" y="3977640"/>
            <a:ext cx="54864" cy="640080"/>
          </a:xfrm>
          <a:prstGeom prst="rect">
            <a:avLst/>
          </a:prstGeom>
          <a:solidFill>
            <a:srgbClr val="C08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40965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C084FC"/>
                </a:solidFill>
                <a:latin typeface="Inter"/>
              </a:rPr>
              <a:t>REASONING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30682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Plans the work and delegates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Cloud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690872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690872"/>
            <a:ext cx="54864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48097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00D4FF"/>
                </a:solidFill>
                <a:latin typeface="Inter"/>
              </a:rPr>
              <a:t>BALANCED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0200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Writes the actual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8920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Cloud API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5404104"/>
            <a:ext cx="4892040" cy="6400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37960" y="5404104"/>
            <a:ext cx="54864" cy="64008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5522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22C55E"/>
                </a:solidFill>
                <a:latin typeface="Inter"/>
              </a:rPr>
              <a:t>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573328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DEDED"/>
                </a:solidFill>
                <a:latin typeface="Inter"/>
              </a:rPr>
              <a:t>Handles cheap, high-volume tasks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6052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DEDED"/>
                </a:solidFill>
                <a:latin typeface="Inter"/>
              </a:rPr>
              <a:t>Local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E3544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900" b="1" spc="120">
                <a:solidFill>
                  <a:srgbClr val="00D4FF"/>
                </a:solidFill>
                <a:latin typeface="Inter"/>
              </a:rPr>
              <a:t>07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5943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spc="120">
                <a:solidFill>
                  <a:srgbClr val="666666"/>
                </a:solidFill>
                <a:latin typeface="Inter"/>
              </a:rPr>
              <a:t>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EDEDED"/>
                </a:solidFill>
                <a:latin typeface="Inter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00D4FF"/>
                </a:solidFill>
                <a:latin typeface="Inter"/>
              </a:rPr>
              <a:t>→ localhost:8050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Cost vs. quality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9495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495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783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RANKINGS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783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Top models by score and 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127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4127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2415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415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Five models head to 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7585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87585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465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RUN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465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Pick a GPU, see what fits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33900" y="4023360"/>
            <a:ext cx="2109155" cy="10972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33900" y="4023360"/>
            <a:ext cx="2109155" cy="457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6780" y="4251960"/>
            <a:ext cx="17433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20">
                <a:solidFill>
                  <a:srgbClr val="EDEDED"/>
                </a:solidFill>
                <a:latin typeface="Inter"/>
              </a:rPr>
              <a:t>AGENT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6780" y="4572000"/>
            <a:ext cx="1743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Build a hybrid Claude Code stack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952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DATA  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artificialanalysis.ai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2179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40">
                <a:solidFill>
                  <a:srgbClr val="666666"/>
                </a:solidFill>
                <a:latin typeface="Inter"/>
              </a:rPr>
              <a:t>CODE  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6217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DEDED"/>
                </a:solidFill>
                <a:latin typeface="Inter"/>
              </a:rPr>
              <a:t>github.com/Avo-Sarkissian/AI-Frontier-Database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