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109728" cy="109728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200">
                <a:solidFill>
                  <a:srgbClr val="EDEDED"/>
                </a:solidFill>
                <a:latin typeface="Inter"/>
              </a:rPr>
              <a:t>AI FRONTIER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62895" y="4572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LIVE DEMO  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666666"/>
                </a:solidFill>
                <a:latin typeface="Inter"/>
              </a:rPr>
              <a:t>DATA VISUALIZATION  ·  EECE 5642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11155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EDEDED"/>
                </a:solidFill>
                <a:latin typeface="Inter"/>
              </a:rPr>
              <a:t>Mapping the AI Model Landscape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0332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888888"/>
                </a:solidFill>
                <a:latin typeface="Inter"/>
              </a:rPr>
              <a:t>An interactive dashboard comparing 255+ language models 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06908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888888"/>
                </a:solidFill>
                <a:latin typeface="Inter"/>
              </a:rPr>
              <a:t>cost, speed, and intelligence — updated hourly.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521208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5394960"/>
            <a:ext cx="27736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DEDED"/>
                </a:solidFill>
                <a:latin typeface="Inter"/>
              </a:rPr>
              <a:t>255+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89320"/>
            <a:ext cx="27736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MODELS TRACKED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22243" y="5394960"/>
            <a:ext cx="27736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DEDED"/>
                </a:solidFill>
                <a:latin typeface="Inter"/>
              </a:rPr>
              <a:t>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2243" y="5989320"/>
            <a:ext cx="27736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PROVIDERS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5394960"/>
            <a:ext cx="27736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DEDED"/>
                </a:solidFill>
                <a:latin typeface="Inter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7" y="5989320"/>
            <a:ext cx="27736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INTERACTIVE TABS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451" y="5394960"/>
            <a:ext cx="27736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D4FF"/>
                </a:solidFill>
                <a:latin typeface="Inter"/>
              </a:rPr>
              <a:t>HOURLY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451" y="5989320"/>
            <a:ext cx="27736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DATA REFRESH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Avo Sarkissian  ·  Northeastern University  · 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01 ·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02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Why these tradeoffs matter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  <a:latin typeface="Inter"/>
              </a:rPr>
              <a:t>Dozens of new models ship every week. Picking the wrong one is the difference between a $5 and a $5,000 monthly bill.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68880"/>
            <a:ext cx="2650159" cy="30175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468880"/>
            <a:ext cx="2650159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743200"/>
            <a:ext cx="2192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00D4FF"/>
                </a:solidFill>
                <a:latin typeface="Inter"/>
              </a:rPr>
              <a:t>DEVELOPERS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46120"/>
            <a:ext cx="219295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Match each task to the cheapest model that still meets quality. A coding agent doesn't need GPT-5-class reasoning to rename a variable.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3391" y="2468880"/>
            <a:ext cx="2650159" cy="30175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3391" y="2468880"/>
            <a:ext cx="2650159" cy="4572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91991" y="2743200"/>
            <a:ext cx="2192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C084FC"/>
                </a:solidFill>
                <a:latin typeface="Inter"/>
              </a:rPr>
              <a:t>RESEARCHERS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1991" y="3246120"/>
            <a:ext cx="219295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Track frontier movement over time. The Pareto frontier shifts every few weeks — what was state-of-the-art is now mid-tier.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8143" y="2468880"/>
            <a:ext cx="2650159" cy="30175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8143" y="2468880"/>
            <a:ext cx="2650159" cy="457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6743" y="2743200"/>
            <a:ext cx="2192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22C55E"/>
                </a:solidFill>
                <a:latin typeface="Inter"/>
              </a:rPr>
              <a:t>BUSINESSES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6743" y="3246120"/>
            <a:ext cx="219295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Project monthly token spend before signing a contract. Two models with identical benchmarks can differ 50× in price.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92895" y="2468880"/>
            <a:ext cx="2650159" cy="30175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92895" y="2468880"/>
            <a:ext cx="2650159" cy="45720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21495" y="2743200"/>
            <a:ext cx="2192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FB923C"/>
                </a:solidFill>
                <a:latin typeface="Inter"/>
              </a:rPr>
              <a:t>STUDENTS  ·  HOBBYISTS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1495" y="3246120"/>
            <a:ext cx="219295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Decide what runs on your laptop vs. what needs an API key. Open-weight models close the gap faster than most people think.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"/>
              </a:rPr>
              <a:t>AI Frontier collapses every comparison into one lens — so the answer is a glance, not a spreadsheet.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408176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02 · DATA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03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One API, refreshed every hour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6583680" cy="42062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5740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666666"/>
                </a:solidFill>
                <a:latin typeface="Inter"/>
              </a:rPr>
              <a:t>INGESTION PIPELINE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468880"/>
            <a:ext cx="5852160" cy="6400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2468880"/>
            <a:ext cx="54864" cy="6400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560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DEDED"/>
                </a:solidFill>
                <a:latin typeface="Inter"/>
              </a:rPr>
              <a:t>Artificial Analysis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788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host-models/performance endpoint  ·  ~20 MB JSON  ·  800+ host records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3163824"/>
            <a:ext cx="5852160" cy="6400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3163824"/>
            <a:ext cx="54864" cy="64008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2552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DEDED"/>
                </a:solidFill>
                <a:latin typeface="Inter"/>
              </a:rPr>
              <a:t>Background scraper thread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4838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data/scraper.py  ·  fires on startup, then every 3,600 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3858768"/>
            <a:ext cx="5852160" cy="6400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3858768"/>
            <a:ext cx="54864" cy="64008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9502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DEDED"/>
                </a:solidFill>
                <a:latin typeface="Inter"/>
              </a:rPr>
              <a:t>Aggregate by (model, lab)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1788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Keep cheapest price + fastest speed across all hosts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4553712"/>
            <a:ext cx="5852160" cy="6400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" y="4553712"/>
            <a:ext cx="54864" cy="64008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6451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DEDED"/>
                </a:solidFill>
                <a:latin typeface="Inter"/>
              </a:rPr>
              <a:t>CSV cache + daily snapshot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8737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data/raw/aa_models.csv  +  data/raw/history/aa_models_YYYY-MM-DD.csv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5248656"/>
            <a:ext cx="5852160" cy="6400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4400" y="5248656"/>
            <a:ext cx="54864" cy="64008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3400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DEDED"/>
                </a:solidFill>
                <a:latin typeface="Inter"/>
              </a:rPr>
              <a:t>Dash app reloads on stale mtime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5686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Charts re-render automatically — no page refresh needed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06640" y="1828800"/>
            <a:ext cx="4251960" cy="42062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0" y="205740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666666"/>
                </a:solidFill>
                <a:latin typeface="Inter"/>
              </a:rPr>
              <a:t>FRESHNESS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2468880"/>
            <a:ext cx="3703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0D4FF"/>
                </a:solidFill>
                <a:latin typeface="Inter"/>
              </a:rPr>
              <a:t>1 hr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0" y="329184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Background scrape interval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680960" y="3749040"/>
            <a:ext cx="3703320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680960" y="3886200"/>
            <a:ext cx="3703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DEDED"/>
                </a:solidFill>
                <a:latin typeface="Inter"/>
              </a:rPr>
              <a:t>30+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0" y="47091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Daily snapshots since 2026-02-25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680960" y="5166360"/>
            <a:ext cx="3703320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0" y="5303520"/>
            <a:ext cx="3703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DEDED"/>
                </a:solidFill>
                <a:latin typeface="Inter"/>
              </a:rPr>
              <a:t>255+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553212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56692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Models in latest snapshot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408176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03 ·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04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How the Intelligence Index is built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8888"/>
                </a:solidFill>
                <a:latin typeface="Inter"/>
              </a:rPr>
              <a:t>A composite score from Artificial Analysis — averaged across seven evaluations covering reasoning, coding, and knowledge.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31720"/>
            <a:ext cx="2691307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496312"/>
            <a:ext cx="23255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00D4FF"/>
                </a:solidFill>
                <a:latin typeface="Inter"/>
              </a:rPr>
              <a:t>REASONING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43200"/>
            <a:ext cx="23255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DEDED"/>
                </a:solidFill>
                <a:latin typeface="Inter"/>
              </a:rPr>
              <a:t>MMLU-Pro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044952"/>
            <a:ext cx="23255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Multitask knowledge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49675" y="2331720"/>
            <a:ext cx="2691307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2555" y="2496312"/>
            <a:ext cx="23255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00D4FF"/>
                </a:solidFill>
                <a:latin typeface="Inter"/>
              </a:rPr>
              <a:t>REASONING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2555" y="2743200"/>
            <a:ext cx="23255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DEDED"/>
                </a:solidFill>
                <a:latin typeface="Inter"/>
              </a:rPr>
              <a:t>GPQA Diamond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2555" y="3044952"/>
            <a:ext cx="23255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Graduate science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50711" y="2331720"/>
            <a:ext cx="2691307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3591" y="2496312"/>
            <a:ext cx="23255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00D4FF"/>
                </a:solidFill>
                <a:latin typeface="Inter"/>
              </a:rPr>
              <a:t>REASONING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3591" y="2743200"/>
            <a:ext cx="23255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DEDED"/>
                </a:solidFill>
                <a:latin typeface="Inter"/>
              </a:rPr>
              <a:t>Humanity's Last Exam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3591" y="3044952"/>
            <a:ext cx="23255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Frontier reasoning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51747" y="2331720"/>
            <a:ext cx="2691307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34627" y="2496312"/>
            <a:ext cx="23255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00D4FF"/>
                </a:solidFill>
                <a:latin typeface="Inter"/>
              </a:rPr>
              <a:t>CODING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4627" y="2743200"/>
            <a:ext cx="23255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DEDED"/>
                </a:solidFill>
                <a:latin typeface="Inter"/>
              </a:rPr>
              <a:t>LiveCodeBench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627" y="3044952"/>
            <a:ext cx="23255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Code generation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493008"/>
            <a:ext cx="2691307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657600"/>
            <a:ext cx="23255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00D4FF"/>
                </a:solidFill>
                <a:latin typeface="Inter"/>
              </a:rPr>
              <a:t>CODING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904488"/>
            <a:ext cx="23255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DEDED"/>
                </a:solidFill>
                <a:latin typeface="Inter"/>
              </a:rPr>
              <a:t>SciCode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206240"/>
            <a:ext cx="23255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Scientific code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49675" y="3493008"/>
            <a:ext cx="2691307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32555" y="3657600"/>
            <a:ext cx="23255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00D4FF"/>
                </a:solidFill>
                <a:latin typeface="Inter"/>
              </a:rPr>
              <a:t>MATH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32555" y="3904488"/>
            <a:ext cx="23255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DEDED"/>
                </a:solidFill>
                <a:latin typeface="Inter"/>
              </a:rPr>
              <a:t>AIME 2025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32555" y="4206240"/>
            <a:ext cx="23255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Competition math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50711" y="3493008"/>
            <a:ext cx="2691307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33591" y="3657600"/>
            <a:ext cx="23255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00D4FF"/>
                </a:solidFill>
                <a:latin typeface="Inter"/>
              </a:rPr>
              <a:t>MATH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33591" y="3904488"/>
            <a:ext cx="23255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DEDED"/>
                </a:solidFill>
                <a:latin typeface="Inter"/>
              </a:rPr>
              <a:t>MATH-500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33591" y="4206240"/>
            <a:ext cx="23255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Quantitative reasoning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951747" y="3493008"/>
            <a:ext cx="2691307" cy="1051560"/>
          </a:xfrm>
          <a:prstGeom prst="rect">
            <a:avLst/>
          </a:prstGeom>
          <a:solidFill>
            <a:srgbClr val="161616"/>
          </a:solidFill>
          <a:ln w="1270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34627" y="3657600"/>
            <a:ext cx="23255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00D4FF"/>
                </a:solidFill>
                <a:latin typeface="Inter"/>
              </a:rPr>
              <a:t>FORMULA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34627" y="3877056"/>
            <a:ext cx="232554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mean(7 evals)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34627" y="4206240"/>
            <a:ext cx="23255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Normalised 0–100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5120640"/>
            <a:ext cx="11094415" cy="1188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5303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666666"/>
                </a:solidFill>
                <a:latin typeface="Inter"/>
              </a:rPr>
              <a:t>WHY A COMPOSITE?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5577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Single benchmarks are gameable. A model that crushes MMLU but flunks coding is misleading on its own.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897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Averaging seven independent evals reduces variance and rewards generalists over benchmark specialists.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941832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04 ·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05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Built entirely in Python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8888"/>
                </a:solidFill>
                <a:latin typeface="Inter"/>
              </a:rPr>
              <a:t>No JS frameworks, no build step. The dashboard is a single Dash app served by Gunicorn.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40280"/>
            <a:ext cx="3588410" cy="187451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240280"/>
            <a:ext cx="54864" cy="1874519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468880"/>
            <a:ext cx="313121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DEDED"/>
                </a:solidFill>
                <a:latin typeface="Inter"/>
              </a:rPr>
              <a:t>Dash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07208"/>
            <a:ext cx="313121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00D4FF"/>
                </a:solidFill>
                <a:latin typeface="Inter"/>
              </a:rPr>
              <a:t>REACTIVE WEB FRAMEWORK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108960"/>
            <a:ext cx="313121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Tabs, callbacks, layout — turns the chart functions into an interactive site without writing HTML.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01642" y="2240280"/>
            <a:ext cx="3588410" cy="187451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1642" y="2240280"/>
            <a:ext cx="54864" cy="1874519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5962" y="2468880"/>
            <a:ext cx="313121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DEDED"/>
                </a:solidFill>
                <a:latin typeface="Inter"/>
              </a:rPr>
              <a:t>Plotly 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5962" y="2807208"/>
            <a:ext cx="313121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C084FC"/>
                </a:solidFill>
                <a:latin typeface="Inter"/>
              </a:rPr>
              <a:t>CHARTING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5962" y="3108960"/>
            <a:ext cx="313121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All 19 chart modules use plotly.graph_objects directly — fine control over traces, hover, theming.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54644" y="2240280"/>
            <a:ext cx="3588410" cy="187451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54644" y="2240280"/>
            <a:ext cx="54864" cy="1874519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8964" y="2468880"/>
            <a:ext cx="313121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DEDED"/>
                </a:solidFill>
                <a:latin typeface="Inter"/>
              </a:rPr>
              <a:t>Pandas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8964" y="2807208"/>
            <a:ext cx="313121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22C55E"/>
                </a:solidFill>
                <a:latin typeface="Inter"/>
              </a:rPr>
              <a:t>DATA WRANGLING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8964" y="3108960"/>
            <a:ext cx="313121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Loads the CSV cache, applies filters, computes Pareto frontier, value scores, percentile presets.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279391"/>
            <a:ext cx="3588410" cy="187451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279391"/>
            <a:ext cx="54864" cy="1874519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507991"/>
            <a:ext cx="313121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DEDED"/>
                </a:solidFill>
                <a:latin typeface="Inter"/>
              </a:rPr>
              <a:t>NumPy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846319"/>
            <a:ext cx="313121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FB923C"/>
                </a:solidFill>
                <a:latin typeface="Inter"/>
              </a:rPr>
              <a:t>NUMERICAL OPS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148071"/>
            <a:ext cx="313121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log-scaling, Pearson r between log10(price) and quality, bubble-size normalisation.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01642" y="4279391"/>
            <a:ext cx="3588410" cy="187451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01642" y="4279391"/>
            <a:ext cx="54864" cy="1874519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5962" y="4507991"/>
            <a:ext cx="313121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DEDED"/>
                </a:solidFill>
                <a:latin typeface="Inter"/>
              </a:rPr>
              <a:t>Requests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5962" y="4846319"/>
            <a:ext cx="313121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00D4FF"/>
                </a:solidFill>
                <a:latin typeface="Inter"/>
              </a:rPr>
              <a:t>LIVE SCRAPER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5962" y="5148071"/>
            <a:ext cx="313121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Plain HTTP GET against the AA API — no Selenium, no Playwright, no browser overhead.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54644" y="4279391"/>
            <a:ext cx="3588410" cy="187451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54644" y="4279391"/>
            <a:ext cx="54864" cy="1874519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28964" y="4507991"/>
            <a:ext cx="313121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DEDED"/>
                </a:solidFill>
                <a:latin typeface="Inter"/>
              </a:rPr>
              <a:t>python-pptx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8964" y="4846319"/>
            <a:ext cx="313121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C084FC"/>
                </a:solidFill>
                <a:latin typeface="Inter"/>
              </a:rPr>
              <a:t>THIS DECK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8964" y="5148071"/>
            <a:ext cx="313121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The slides you're looking at are generated programmatically — same color tokens as the website.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719072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05 · CHART INVENTORY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06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What's in the dashboard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8888"/>
                </a:solidFill>
                <a:latin typeface="Inter"/>
              </a:rPr>
              <a:t>Eleven tabs, nineteen chart modules. Each chart is matched to its analytical task — never a chart for its own sake.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31720"/>
            <a:ext cx="11094415" cy="36576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CHART TYPE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4231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WHERE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2423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ENCODES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24231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WHY THIS CHART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90779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DEDED"/>
                </a:solidFill>
                <a:latin typeface="Inter"/>
              </a:rPr>
              <a:t>Bubble scatter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290779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0D4FF"/>
                </a:solidFill>
                <a:latin typeface="Inter"/>
              </a:rPr>
              <a:t>Overview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290779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Price · Quality · Speed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9077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Three quantitative axes at once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200400"/>
            <a:ext cx="11094415" cy="4114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31927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DEDED"/>
                </a:solidFill>
                <a:latin typeface="Inter"/>
              </a:rPr>
              <a:t>Pareto frontier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4680" y="33192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0D4FF"/>
                </a:solidFill>
                <a:latin typeface="Inter"/>
              </a:rPr>
              <a:t>Overview overlay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33192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Optimal cost/quality tier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3960" y="331927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Highlights non-dominated models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7307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DEDED"/>
                </a:solidFill>
                <a:latin typeface="Inter"/>
              </a:rPr>
              <a:t>Treemap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680" y="373075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0D4FF"/>
                </a:solidFill>
                <a:latin typeface="Inter"/>
              </a:rPr>
              <a:t>Landscape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0680" y="373075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Provider count + avg quality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373075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Compare hierarchical magnitudes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023360"/>
            <a:ext cx="11094415" cy="4114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1422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DEDED"/>
                </a:solidFill>
                <a:latin typeface="Inter"/>
              </a:rPr>
              <a:t>Horizontal bars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54680" y="41422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0D4FF"/>
                </a:solidFill>
                <a:latin typeface="Inter"/>
              </a:rPr>
              <a:t>Rankings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40680" y="414223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Score · Value · Speed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23960" y="414223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Best for ordered comparisons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55371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DEDED"/>
                </a:solidFill>
                <a:latin typeface="Inter"/>
              </a:rPr>
              <a:t>Radar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54680" y="455371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0D4FF"/>
                </a:solidFill>
                <a:latin typeface="Inter"/>
              </a:rPr>
              <a:t>Compare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0680" y="455371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5 metrics, up to 5 models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23960" y="455371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Profile shape comparison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846320"/>
            <a:ext cx="11094415" cy="4114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496519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DEDED"/>
                </a:solidFill>
                <a:latin typeface="Inter"/>
              </a:rPr>
              <a:t>Slope / bump chart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54680" y="496519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0D4FF"/>
                </a:solidFill>
                <a:latin typeface="Inter"/>
              </a:rPr>
              <a:t>Insights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496519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Rank evolution over time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23960" y="49651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Shows movement, not just current rank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" y="537667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DEDED"/>
                </a:solidFill>
                <a:latin typeface="Inter"/>
              </a:rPr>
              <a:t>Faceted scatter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54680" y="53766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0D4FF"/>
                </a:solidFill>
                <a:latin typeface="Inter"/>
              </a:rPr>
              <a:t>Image 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40680" y="53766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ELO × Price by provider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23960" y="537667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Small multiples reduce overplotting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5669280"/>
            <a:ext cx="11094415" cy="4114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57881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DEDED"/>
                </a:solidFill>
                <a:latin typeface="Inter"/>
              </a:rPr>
              <a:t>Quadrant scatter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54680" y="578815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0D4FF"/>
                </a:solidFill>
                <a:latin typeface="Inter"/>
              </a:rPr>
              <a:t>Run Local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0680" y="578815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VRAM fit × Speed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578815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Decision space split by hardware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330452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06 ·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07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Data-viz choices, made explicit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5455767" cy="2057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1168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00D4FF"/>
                </a:solidFill>
                <a:latin typeface="Inter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011680"/>
            <a:ext cx="44499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Data-ink ratio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286000"/>
            <a:ext cx="4449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Tufte: maximise the share of pixels that encode data.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2670048"/>
            <a:ext cx="73152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06040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Removed gridlines from 0.06 → 0.04 opacity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2962656"/>
            <a:ext cx="73152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898648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Stat bar trimmed from 6 cells to 4 — dropped non-data labels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255264"/>
            <a:ext cx="73152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191256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Header badge and chart frames removed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3547872"/>
            <a:ext cx="73152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483864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Legend cut from 28 to 11 entries (top providers + 'Other')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87287" y="1828800"/>
            <a:ext cx="5455767" cy="2057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1607" y="201168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00D4FF"/>
                </a:solidFill>
                <a:latin typeface="Inter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64527" y="2011680"/>
            <a:ext cx="44499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Dual encoding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4527" y="2286000"/>
            <a:ext cx="4449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Color is not the only channel — works for colorblind viewers.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07327" y="2670048"/>
            <a:ext cx="73152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90207" y="2606040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Provider encoded by both color AND marker shape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07327" y="2962656"/>
            <a:ext cx="73152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90207" y="2898648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Pareto frontier uses dotted line + cyan accent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07327" y="3255264"/>
            <a:ext cx="73152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3191256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Tier separators on rankings use line weight + spacing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3547872"/>
            <a:ext cx="73152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90207" y="3483864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Stat values sized 22pt vs labels 10pt — pre-attentive hierarchy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069080"/>
            <a:ext cx="5455767" cy="2057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42519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00D4FF"/>
                </a:solidFill>
                <a:latin typeface="Inter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4251960"/>
            <a:ext cx="44499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Gestalt grouping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5880" y="4526280"/>
            <a:ext cx="4449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Proximity and similarity tell users what belongs together.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" y="4910328"/>
            <a:ext cx="73152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1560" y="4846320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Filter bar visually attached to chart it controls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" y="5202936"/>
            <a:ext cx="73152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138928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Cards share radius, padding, border weight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8680" y="5495544"/>
            <a:ext cx="73152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5431536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Same provider color across every tab (255+ models)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8680" y="5788152"/>
            <a:ext cx="73152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51560" y="5724144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Whitespace separates tabs more than borders do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87287" y="4069080"/>
            <a:ext cx="5455767" cy="2057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61607" y="42519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00D4FF"/>
                </a:solidFill>
                <a:latin typeface="Inter"/>
              </a:rPr>
              <a:t>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64527" y="4251960"/>
            <a:ext cx="44499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Right chart for the task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64527" y="4526280"/>
            <a:ext cx="4449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Cleveland &amp; McGill: pick the channel humans decode best.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07327" y="4910328"/>
            <a:ext cx="73152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90207" y="4846320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Position for ranking — bars, not pie charts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07327" y="5202936"/>
            <a:ext cx="73152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90207" y="5138928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Length for magnitude — never area for precise comparison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07327" y="5495544"/>
            <a:ext cx="73152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90207" y="5431536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Log scale where the data spans 1000× — price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07327" y="5788152"/>
            <a:ext cx="73152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90207" y="5724144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Small multiples (faceted scatter) instead of overlapping series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641348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07 · LOCAL + HYBRID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08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Open weights and the Claude Code stack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8888"/>
                </a:solidFill>
                <a:latin typeface="Inter"/>
              </a:rPr>
              <a:t>The Run Local tab models open-weight inference. The Agent Stack tab uses that to recommend hybrid setups for tools like Claude Code.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86000"/>
            <a:ext cx="5669280" cy="38404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5146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RUN LOCAL  ·  HARDWARE FIT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83464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EDEDED"/>
                </a:solidFill>
                <a:latin typeface="Inter"/>
              </a:rPr>
              <a:t>Will it fit on my GPU?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290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D4FF"/>
                </a:solidFill>
                <a:latin typeface="Inter"/>
              </a:rPr>
              <a:t>VRAM  =  params × bytes_per_weight × 1.18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70332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D4FF"/>
                </a:solidFill>
                <a:latin typeface="Inter"/>
              </a:rPr>
              <a:t>Speed  =  bandwidth / model_size × efficiency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20624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QUANTIZATION LEVELS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480560"/>
            <a:ext cx="85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DEDED"/>
                </a:solidFill>
                <a:latin typeface="Inter"/>
              </a:rPr>
              <a:t>FP16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709160"/>
            <a:ext cx="85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2.0 B/w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76400" y="4480560"/>
            <a:ext cx="85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DEDED"/>
                </a:solidFill>
                <a:latin typeface="Inter"/>
              </a:rPr>
              <a:t>Q8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76400" y="4709160"/>
            <a:ext cx="85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1.0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29840" y="4480560"/>
            <a:ext cx="85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DEDED"/>
                </a:solidFill>
                <a:latin typeface="Inter"/>
              </a:rPr>
              <a:t>Q5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9840" y="4709160"/>
            <a:ext cx="85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0.625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4480560"/>
            <a:ext cx="85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DEDED"/>
                </a:solidFill>
                <a:latin typeface="Inter"/>
              </a:rPr>
              <a:t>Q4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4709160"/>
            <a:ext cx="85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36720" y="4480560"/>
            <a:ext cx="85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DEDED"/>
                </a:solidFill>
                <a:latin typeface="Inter"/>
              </a:rPr>
              <a:t>Q3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36720" y="4709160"/>
            <a:ext cx="85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0.375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90160" y="4480560"/>
            <a:ext cx="85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DEDED"/>
                </a:solidFill>
                <a:latin typeface="Inter"/>
              </a:rPr>
              <a:t>Q2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0160" y="4709160"/>
            <a:ext cx="85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0.25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1663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EFFICIENCY BY BACKEND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4132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Apple MLX 0.82  ·  NVIDIA / Qualcomm 0.55  ·  AMD / Intel 0.50  ·  CPU 0.30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2286000"/>
            <a:ext cx="5257800" cy="38404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0" y="2514600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AGENT STACK  ·  CLAUDE CODE / OPENCLAW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2834640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EDEDED"/>
                </a:solidFill>
                <a:latin typeface="Inter"/>
              </a:rPr>
              <a:t>Three-tier hybrid workflow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0" y="3474720"/>
            <a:ext cx="4709160" cy="7772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75120" y="3474720"/>
            <a:ext cx="54864" cy="77724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0" y="35935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C084FC"/>
                </a:solidFill>
                <a:latin typeface="Inter"/>
              </a:rPr>
              <a:t>REASONING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38221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DEDED"/>
                </a:solidFill>
                <a:latin typeface="Inter"/>
              </a:rPr>
              <a:t>Claude Opus 4.6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40233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Plans, decomposes, delegates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37490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API · cloud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75120" y="4325112"/>
            <a:ext cx="4709160" cy="7772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675120" y="4325112"/>
            <a:ext cx="54864" cy="7772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0" y="4443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00D4FF"/>
                </a:solidFill>
                <a:latin typeface="Inter"/>
              </a:rPr>
              <a:t>BALANCED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0" y="467258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DEDED"/>
                </a:solidFill>
                <a:latin typeface="Inter"/>
              </a:rPr>
              <a:t>Claude Sonnet 4.6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0" y="48737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Codes, edits, writes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87000" y="459943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API · cloud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75120" y="5175504"/>
            <a:ext cx="4709160" cy="7772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675120" y="5175504"/>
            <a:ext cx="54864" cy="77724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0" y="5294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22C55E"/>
                </a:solidFill>
                <a:latin typeface="Inter"/>
              </a:rPr>
              <a:t>FAST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552297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DEDED"/>
                </a:solidFill>
                <a:latin typeface="Inter"/>
              </a:rPr>
              <a:t>Qwen3-30B-A3B (Q4)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0" y="572414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High-volume sub-tasks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87000" y="544982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Local · M-series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563624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08 · WHAT WE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09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Three patterns the data exposes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3576218" cy="42062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03120"/>
            <a:ext cx="302757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D4FF"/>
                </a:solidFill>
                <a:latin typeface="Inter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788920"/>
            <a:ext cx="302757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DEDED"/>
                </a:solidFill>
                <a:latin typeface="Inter"/>
              </a:rPr>
              <a:t>Price ≠ 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83280"/>
            <a:ext cx="302757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Pearson r between log10(price) and intelligence is roughly 0.45 — moderate. Half the variance in price is unexplained by capability alone.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.0" y="5074920"/>
            <a:ext cx="3027578.333333333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5212080"/>
            <a:ext cx="30275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TAKEAWAY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440680"/>
            <a:ext cx="302757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D4FF"/>
                </a:solidFill>
                <a:latin typeface="Inter"/>
              </a:rPr>
              <a:t>Cheap-and-strong models exist on every Pareto step.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07738" y="1828800"/>
            <a:ext cx="3576218" cy="42062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2058" y="2103120"/>
            <a:ext cx="302757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C084FC"/>
                </a:solidFill>
                <a:latin typeface="Inter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2058" y="2788920"/>
            <a:ext cx="302757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DEDED"/>
                </a:solidFill>
                <a:latin typeface="Inter"/>
              </a:rPr>
              <a:t>The frontier moves monthly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2058" y="3383280"/>
            <a:ext cx="302757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Across 30+ daily snapshots, the Pareto frontier has shifted left (cheaper) more often than up (smarter) — price compression dominates.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82058.333333334" y="5074920"/>
            <a:ext cx="3027578.333333334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82058" y="5212080"/>
            <a:ext cx="30275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TAKEAWAY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2058" y="5440680"/>
            <a:ext cx="302757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84FC"/>
                </a:solidFill>
                <a:latin typeface="Inter"/>
              </a:rPr>
              <a:t>Recompute every model decision quarterly, minimum.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6836" y="1828800"/>
            <a:ext cx="3576218" cy="42062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41156" y="2103120"/>
            <a:ext cx="302757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2C55E"/>
                </a:solidFill>
                <a:latin typeface="Inter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1156" y="2788920"/>
            <a:ext cx="302757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DEDED"/>
                </a:solidFill>
                <a:latin typeface="Inter"/>
              </a:rPr>
              <a:t>Open weights are catching 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1156" y="3383280"/>
            <a:ext cx="302757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On Apple Silicon at Q4, several open models now sit within 10 points of mid-tier API offerings — for $0 marginal cost.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341156.666666667" y="5074920"/>
            <a:ext cx="3027578.333333333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341156" y="5212080"/>
            <a:ext cx="30275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TAKEAWAY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1156" y="5440680"/>
            <a:ext cx="302757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2C55E"/>
                </a:solidFill>
                <a:latin typeface="Inter"/>
              </a:rPr>
              <a:t>Hybrid stacks are no longer a hobbyist trick.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09 ·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5943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10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0" b="1">
                <a:solidFill>
                  <a:srgbClr val="EDEDED"/>
                </a:solidFill>
                <a:latin typeface="Inter"/>
              </a:rPr>
              <a:t>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0D4FF"/>
                </a:solidFill>
                <a:latin typeface="Inter"/>
              </a:rPr>
              <a:t>→ localhost:8050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657600"/>
            <a:ext cx="2109155" cy="1005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65760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6052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Pareto frontier in motion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94955" y="3657600"/>
            <a:ext cx="2109155" cy="1005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94955" y="365760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7835" y="384048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RANKINGS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7835" y="416052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Value leaders + tier breaks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41270" y="3657600"/>
            <a:ext cx="2109155" cy="1005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41270" y="365760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24150" y="384048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COMPARE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4150" y="416052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Radar across 5 models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87585" y="3657600"/>
            <a:ext cx="2109155" cy="1005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87585" y="365760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70465" y="384048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RUN LOCAL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0465" y="416052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Pick a GPU, watch fit update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33900" y="3657600"/>
            <a:ext cx="2109155" cy="1005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533900" y="365760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16780" y="384048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AGENT STACK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16780" y="416052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Hybrid Claude Code build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" y="51206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8640" y="5303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666666"/>
                </a:solidFill>
                <a:latin typeface="Inter"/>
              </a:rPr>
              <a:t>REFERENCES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6235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DEDED"/>
                </a:solidFill>
                <a:latin typeface="Inter"/>
              </a:rPr>
              <a:t>Artificial Analysis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562356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6666"/>
                </a:solidFill>
                <a:latin typeface="Inter"/>
              </a:rPr>
              <a:t>artificialanalysis.ai  ·  data source for all LLM and image metrics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91616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DEDED"/>
                </a:solidFill>
                <a:latin typeface="Inter"/>
              </a:rPr>
              <a:t>Tufte, E.R.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591616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6666"/>
                </a:solidFill>
                <a:latin typeface="Inter"/>
              </a:rPr>
              <a:t>The Visual Display of Quantitative Information  ·  data-ink ratio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20877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DEDED"/>
                </a:solidFill>
                <a:latin typeface="Inter"/>
              </a:rPr>
              <a:t>Cleveland &amp; McGill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6208776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6666"/>
                </a:solidFill>
                <a:latin typeface="Inter"/>
              </a:rPr>
              <a:t>Graphical perception (1984)  ·  ranking of visual encodings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50138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DEDED"/>
                </a:solidFill>
                <a:latin typeface="Inter"/>
              </a:rPr>
              <a:t>Plotly / Dash docs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1840" y="6501384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6666"/>
                </a:solidFill>
                <a:latin typeface="Inter"/>
              </a:rPr>
              <a:t>plotly.com/python  ·  dash.plotly.com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