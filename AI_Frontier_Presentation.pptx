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09728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200">
                <a:solidFill>
                  <a:srgbClr val="EDEDED"/>
                </a:solidFill>
                <a:latin typeface="Inter"/>
              </a:rPr>
              <a:t>AI FRONTIER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62895" y="457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LIVE DEMO 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666666"/>
                </a:solidFill>
                <a:latin typeface="Inter"/>
              </a:rPr>
              <a:t>DATA VISUALIZATION  ·  EECE 5642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DEDED"/>
                </a:solidFill>
                <a:latin typeface="Inter"/>
              </a:rPr>
              <a:t>Mapping the AI Model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88888"/>
                </a:solidFill>
                <a:latin typeface="Inter"/>
              </a:rPr>
              <a:t>Comparing 255+ AI models on cost, speed, and intelligence,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88888"/>
                </a:solidFill>
                <a:latin typeface="Inter"/>
              </a:rPr>
              <a:t>in one place, updated every hour.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3492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532120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DED"/>
                </a:solidFill>
                <a:latin typeface="Inter"/>
              </a:rPr>
              <a:t>255+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27736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MODELS TRACKED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2243" y="5532120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DED"/>
                </a:solidFill>
                <a:latin typeface="Inter"/>
              </a:rP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2243" y="6126480"/>
            <a:ext cx="27736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PROVIDERS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5532120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DED"/>
                </a:solidFill>
                <a:latin typeface="Inter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126480"/>
            <a:ext cx="27736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INTERACTIVE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451" y="5532120"/>
            <a:ext cx="27736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D4FF"/>
                </a:solidFill>
                <a:latin typeface="Inter"/>
              </a:rPr>
              <a:t>HOURLY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6126480"/>
            <a:ext cx="27736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DATA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Avo Sarkissian  ·  Northeastern University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01 ·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Why this matters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Inter"/>
              </a:rPr>
              <a:t>New AI models ship every week. The right pick can be the difference between a $5 and a $5,000 monthly bill.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650159" cy="3657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650159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00D4FF"/>
                </a:solidFill>
                <a:latin typeface="Inter"/>
              </a:rPr>
              <a:t>DEVELOPERS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210151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DEDED"/>
                </a:solidFill>
                <a:latin typeface="Inter"/>
              </a:rPr>
              <a:t>Pick the cheapest model that still does the job. Not every task needs the smartest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3391" y="2377440"/>
            <a:ext cx="2650159" cy="3657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3391" y="2377440"/>
            <a:ext cx="2650159" cy="4572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7711" y="269748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C084FC"/>
                </a:solidFill>
                <a:latin typeface="Inter"/>
              </a:rPr>
              <a:t>RESEARCHERS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711" y="3246120"/>
            <a:ext cx="210151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DEDED"/>
                </a:solidFill>
                <a:latin typeface="Inter"/>
              </a:rPr>
              <a:t>Track which models lead on what. The leaderboard shifts every few weeks.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2377440"/>
            <a:ext cx="2650159" cy="3657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2377440"/>
            <a:ext cx="2650159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2463" y="269748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22C55E"/>
                </a:solidFill>
                <a:latin typeface="Inter"/>
              </a:rPr>
              <a:t>BUSINESSES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463" y="3246120"/>
            <a:ext cx="210151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DEDED"/>
                </a:solidFill>
                <a:latin typeface="Inter"/>
              </a:rPr>
              <a:t>Estimate monthly cost before committing. Two similar models can differ 50× in price.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2895" y="2377440"/>
            <a:ext cx="2650159" cy="3657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2895" y="2377440"/>
            <a:ext cx="2650159" cy="457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215" y="269748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FB923C"/>
                </a:solidFill>
                <a:latin typeface="Inter"/>
              </a:rPr>
              <a:t>STUDENTS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215" y="3246120"/>
            <a:ext cx="210151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DEDED"/>
                </a:solidFill>
                <a:latin typeface="Inter"/>
              </a:rPr>
              <a:t>Know what runs on your laptop versus what needs an API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Where the data comes from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Inter"/>
              </a:rPr>
              <a:t>Two separate data sources: a live API for cloud models, and a curated catalog for local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6766560" cy="21031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676656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ARTIFICIAL ANALYSIS API  ·  artificialanalysis.ai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DED"/>
                </a:solidFill>
                <a:latin typeface="Inter"/>
              </a:rPr>
              <a:t>Cloud LLMs, image gen, video gen, embeddings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29184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Price, speed, latency, context window for every public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6732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75888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Scraped hourly in the background. Each run saves a dated snapshot.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0560"/>
            <a:ext cx="6766560" cy="1645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6766560" cy="4572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C084FC"/>
                </a:solidFill>
                <a:latin typeface="Inter"/>
              </a:rPr>
              <a:t>MANUALLY CURATED  ·  Manufacturer spec sheets + HuggingFace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292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DED"/>
                </a:solidFill>
                <a:latin typeface="Inter"/>
              </a:rPr>
              <a:t>Local open-weight models + GPU hardware specs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59552"/>
            <a:ext cx="73152" cy="7315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48640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GPU VRAM and memory bandwidth from official product pages (NVIDIA, AMD, Apple, Intel)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888736"/>
            <a:ext cx="73152" cy="7315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815584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Open-weight model catalog with parameter counts from HuggingFace model cards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2240280"/>
            <a:ext cx="4160520" cy="388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5146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666666"/>
                </a:solidFill>
                <a:latin typeface="Inter"/>
              </a:rPr>
              <a:t>FRESHNESS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8803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0D4FF"/>
                </a:solidFill>
                <a:latin typeface="Inter"/>
              </a:rPr>
              <a:t>1 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576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Cloud model refresh interval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18120" y="4114799"/>
            <a:ext cx="361188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18120" y="42519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DEDED"/>
                </a:solidFill>
                <a:latin typeface="Inter"/>
              </a:rPr>
              <a:t>30+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02920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Daily snapshots on file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18120" y="5394960"/>
            <a:ext cx="3611880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18120" y="55321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40">
                <a:solidFill>
                  <a:srgbClr val="666666"/>
                </a:solidFill>
                <a:latin typeface="Inter"/>
              </a:rPr>
              <a:t>LOCAL CATALOG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733288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DEDED"/>
                </a:solidFill>
                <a:latin typeface="Inter"/>
              </a:rPr>
              <a:t>Static  ·  updated when new models release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03 ·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How the intelligence score works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Inter"/>
              </a:rPr>
              <a:t>A single 0–100 number, made by averaging several public AI tests so no single benchmark dominates.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2650159" cy="2834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2650159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2101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00D4FF"/>
                </a:solidFill>
                <a:latin typeface="Inter"/>
              </a:rP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21015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DEDED"/>
                </a:solidFill>
                <a:latin typeface="Inter"/>
              </a:rPr>
              <a:t>General knowledge and step-by-step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2101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40">
                <a:solidFill>
                  <a:srgbClr val="666666"/>
                </a:solidFill>
                <a:latin typeface="Inter"/>
              </a:rPr>
              <a:t>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MMLU-Pro, GPQA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3391" y="2240280"/>
            <a:ext cx="2650159" cy="2834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3391" y="2240280"/>
            <a:ext cx="2650159" cy="4572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7711" y="2560320"/>
            <a:ext cx="2101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C084FC"/>
                </a:solidFill>
                <a:latin typeface="Inter"/>
              </a:rPr>
              <a:t>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7711" y="3017520"/>
            <a:ext cx="21015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DEDED"/>
                </a:solidFill>
                <a:latin typeface="Inter"/>
              </a:rPr>
              <a:t>Writing and debugging real 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7711" y="4251960"/>
            <a:ext cx="2101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40">
                <a:solidFill>
                  <a:srgbClr val="666666"/>
                </a:solidFill>
                <a:latin typeface="Inter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7711" y="448056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LiveCodeBench, SciCode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8143" y="2240280"/>
            <a:ext cx="2650159" cy="2834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8143" y="2240280"/>
            <a:ext cx="2650159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463" y="2560320"/>
            <a:ext cx="2101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22C55E"/>
                </a:solidFill>
                <a:latin typeface="Inter"/>
              </a:rPr>
              <a:t>MATH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463" y="3017520"/>
            <a:ext cx="21015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DEDED"/>
                </a:solidFill>
                <a:latin typeface="Inter"/>
              </a:rPr>
              <a:t>Multi-step quantitative problems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4251960"/>
            <a:ext cx="2101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40">
                <a:solidFill>
                  <a:srgbClr val="666666"/>
                </a:solidFill>
                <a:latin typeface="Inter"/>
              </a:rPr>
              <a:t>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448056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AIME, MATH-500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92895" y="2240280"/>
            <a:ext cx="2650159" cy="2834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2895" y="2240280"/>
            <a:ext cx="2650159" cy="457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7215" y="2560320"/>
            <a:ext cx="2101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spc="160">
                <a:solidFill>
                  <a:srgbClr val="FB923C"/>
                </a:solidFill>
                <a:latin typeface="Inter"/>
              </a:rPr>
              <a:t>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215" y="3017520"/>
            <a:ext cx="21015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DEDED"/>
                </a:solidFill>
                <a:latin typeface="Inter"/>
              </a:rPr>
              <a:t>Recall and synthesis across many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7215" y="4251960"/>
            <a:ext cx="2101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40">
                <a:solidFill>
                  <a:srgbClr val="666666"/>
                </a:solidFill>
                <a:latin typeface="Inter"/>
              </a:rPr>
              <a:t>EXAMPLES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7215" y="4480560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Humanity's Last Exam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532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WHY AVERAGE THEM?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8815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One number rewards well-rounded models and lets you compare cloud and local models on the same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941832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04 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How it's built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Inter"/>
              </a:rPr>
              <a:t>Built in Python, hosted on Render. No JavaScript, no build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101839" cy="37490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2101839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1644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DED"/>
                </a:solidFill>
                <a:latin typeface="Inter"/>
              </a:rPr>
              <a:t>Dash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164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WEB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16446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Turns Python functions into a live interactive site. Handles tabs, filters, and callbacks.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6783" y="2148840"/>
            <a:ext cx="2101839" cy="37490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6783" y="2148840"/>
            <a:ext cx="2101839" cy="4572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5383" y="2496312"/>
            <a:ext cx="1644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DED"/>
                </a:solidFill>
                <a:latin typeface="Inter"/>
              </a:rPr>
              <a:t>Plotly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5383" y="3108960"/>
            <a:ext cx="164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C084FC"/>
                </a:solidFill>
                <a:latin typeface="Inter"/>
              </a:rPr>
              <a:t>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5383" y="3520440"/>
            <a:ext cx="16446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Every chart in the dashboard. Interactive, hoverable, and styled from one config.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4927" y="2148840"/>
            <a:ext cx="2101839" cy="37490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4927" y="2148840"/>
            <a:ext cx="2101839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3527" y="2496312"/>
            <a:ext cx="1644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DED"/>
                </a:solidFill>
                <a:latin typeface="Inter"/>
              </a:rPr>
              <a:t>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3527" y="3108960"/>
            <a:ext cx="164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22C55E"/>
                </a:solidFill>
                <a:latin typeface="Inter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3527" y="3520440"/>
            <a:ext cx="16446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Loads the CSV, runs filters, and computes the Pareto frontier and value scores.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3071" y="2148840"/>
            <a:ext cx="2101839" cy="37490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3071" y="2148840"/>
            <a:ext cx="2101839" cy="457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1671" y="2496312"/>
            <a:ext cx="1644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DED"/>
                </a:solidFill>
                <a:latin typeface="Inter"/>
              </a:rPr>
              <a:t>Requests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1671" y="3108960"/>
            <a:ext cx="164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FB923C"/>
                </a:solidFill>
                <a:latin typeface="Inter"/>
              </a:rPr>
              <a:t>LIVE SCRAPER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1671" y="3520440"/>
            <a:ext cx="16446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Plain HTTP call to the Artificial Analysis API every hour. No browser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41215" y="2148840"/>
            <a:ext cx="2101839" cy="3749039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41215" y="2148840"/>
            <a:ext cx="2101839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9815" y="2496312"/>
            <a:ext cx="1644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DEDED"/>
                </a:solidFill>
                <a:latin typeface="Inter"/>
              </a:rPr>
              <a:t>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9815" y="3108960"/>
            <a:ext cx="164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7C3AED"/>
                </a:solidFill>
                <a:latin typeface="Inter"/>
              </a:rPr>
              <a:t>HOSTING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9815" y="3520440"/>
            <a:ext cx="164463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Cloud platform that runs the app 24/7 from the GitHub repo. Redeploys on every push.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1348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05 ·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Charts and the choices behind them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760720" cy="44348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CHART TYPES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73152" cy="411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Bubble scatter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88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"/>
              </a:rPr>
              <a:t>Three things at once: price, quality, 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54680"/>
            <a:ext cx="73152" cy="411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Pareto frontier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"/>
              </a:rPr>
              <a:t>Highlights the best deals on the curve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49040"/>
            <a:ext cx="73152" cy="411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03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Treemap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"/>
              </a:rPr>
              <a:t>One tile per provider, sized by model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43400"/>
            <a:ext cx="73152" cy="411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Horizontal bars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"/>
              </a:rPr>
              <a:t>Best for ranked comparisons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937760"/>
            <a:ext cx="73152" cy="411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Radar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66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"/>
              </a:rPr>
              <a:t>Compare 5 models on 5 dimensions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532120"/>
            <a:ext cx="73152" cy="4114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4864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Bump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60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Inter"/>
              </a:rPr>
              <a:t>Tracks how rankings move over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783080"/>
            <a:ext cx="5166360" cy="44348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01168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DESIGN CHOICES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468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00D4FF"/>
                </a:solidFill>
                <a:latin typeface="Inter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4688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Data-ink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81635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Most pixels should encode data. Removed gridlines, frames, and a long legend.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383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00D4FF"/>
                </a:solidFill>
                <a:latin typeface="Inter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3832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Color with backup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73075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Provider has both a color AND a marker shape, readable for colorblind viewers.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297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00D4FF"/>
                </a:solidFill>
                <a:latin typeface="Inter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2976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Visual grouping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64515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Filters sit next to the chart they control. Shared colors carry across all 11 tabs.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212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00D4FF"/>
                </a:solidFill>
                <a:latin typeface="Inter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2120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DEDED"/>
                </a:solidFill>
                <a:latin typeface="Inter"/>
              </a:rPr>
              <a:t>Right chart for the job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559552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8888"/>
                </a:solidFill>
                <a:latin typeface="Inter"/>
              </a:rPr>
              <a:t>Bars for ranking, log scale for prices that span 1000×, small multiples to avoid clutter.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1348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06 · LOCAL +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Open weights and Claude Code stacks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Inter"/>
              </a:rPr>
              <a:t>Not everything has to live on the cloud. The dashboard also tracks open-weight models you can run yourself, and recommends hybrid setups for tools like Claude Code / openclaw.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5486400" cy="35204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RUN LOCAL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DEDED"/>
                </a:solidFill>
                <a:latin typeface="Inter"/>
              </a:rPr>
              <a:t>Will it run on my machine?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50792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Pick your GPU and how much you want to compress the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507992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89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See which open-weight models will actually fit in your VRAM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65192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846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Get an estimated speed in tokens/second for your hardware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422392"/>
            <a:ext cx="9144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Compare every open model on the same intelligence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06040"/>
            <a:ext cx="5440680" cy="35204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8803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HYBRID STACK  ·  CLAUDE CODE / OPENCLAW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004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DEDED"/>
                </a:solidFill>
                <a:latin typeface="Inter"/>
              </a:rPr>
              <a:t>Three tiers, mix cloud + local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977640"/>
            <a:ext cx="4892040" cy="6400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3977640"/>
            <a:ext cx="54864" cy="64008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0965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C084FC"/>
                </a:solidFill>
                <a:latin typeface="Inter"/>
              </a:rPr>
              <a:t>REASONING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068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DEDED"/>
                </a:solidFill>
                <a:latin typeface="Inter"/>
              </a:rPr>
              <a:t>Plans the work and delegates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1788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88888"/>
                </a:solidFill>
                <a:latin typeface="Inter"/>
              </a:rPr>
              <a:t>Cloud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690872"/>
            <a:ext cx="4892040" cy="6400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4690872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8097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BALANCED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0200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DEDED"/>
                </a:solidFill>
                <a:latin typeface="Inter"/>
              </a:rPr>
              <a:t>Writes the actual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8920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88888"/>
                </a:solidFill>
                <a:latin typeface="Inter"/>
              </a:rPr>
              <a:t>Cloud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5404104"/>
            <a:ext cx="4892040" cy="6400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5404104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55229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22C55E"/>
                </a:solidFill>
                <a:latin typeface="Inter"/>
              </a:rPr>
              <a:t>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733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DEDED"/>
                </a:solidFill>
                <a:latin typeface="Inter"/>
              </a:rPr>
              <a:t>Handles cheap, high-volume tasks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56052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88888"/>
                </a:solidFill>
                <a:latin typeface="Inter"/>
              </a:rPr>
              <a:t>Local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08 ·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What's new here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Inter"/>
              </a:rPr>
              <a:t>Most leaderboards rank models. Most pricing pages don't include quality. AI Frontier does both,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2650159" cy="3200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650159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101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00D4FF"/>
                </a:solidFill>
                <a:latin typeface="Inter"/>
              </a:rPr>
              <a:t>LIVE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210151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Hourly scrape of 255+ models. No manual refresh, no stale numbers. Over 30 daily snapshots preserved for trend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3391" y="2331720"/>
            <a:ext cx="2650159" cy="3200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3391" y="2331720"/>
            <a:ext cx="2650159" cy="4572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7711" y="2651760"/>
            <a:ext cx="2101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084FC"/>
                </a:solidFill>
                <a:latin typeface="Inter"/>
              </a:rPr>
              <a:t>CROSS-MODAL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711" y="3108960"/>
            <a:ext cx="210151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Text, image generation, and video generation in one dashboard. Local open-weight models alongside paid APIs — a comparison that doesn't exist in one place elsewhere.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2331720"/>
            <a:ext cx="2650159" cy="3200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2331720"/>
            <a:ext cx="2650159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2463" y="2651760"/>
            <a:ext cx="2101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22C55E"/>
                </a:solidFill>
                <a:latin typeface="Inter"/>
              </a:rPr>
              <a:t>HYBRID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463" y="3108960"/>
            <a:ext cx="210151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Agent Stack tab recommends a three-tier model setup (reasoning, balanced, fast) for agentic workflows. Practical output, not just a ranking.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2895" y="2331720"/>
            <a:ext cx="2650159" cy="3200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2895" y="2331720"/>
            <a:ext cx="2650159" cy="4572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215" y="2651760"/>
            <a:ext cx="2101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FB923C"/>
                </a:solidFill>
                <a:latin typeface="Inter"/>
              </a:rPr>
              <a:t>OPEN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215" y="3108960"/>
            <a:ext cx="2101519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DEDED"/>
                </a:solidFill>
                <a:latin typeface="Inter"/>
              </a:rPr>
              <a:t>Full pipeline — scraper, scoring, all eleven visualization modules — is public on GitHub and redeployable.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19556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09 ·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What comes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Inter"/>
              </a:rPr>
              <a:t>The infrastructure is in place — most of these are data and UI additions, not architecture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9441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Per-category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41448"/>
            <a:ext cx="835121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Reasoning, coding, math, and knowledge breakdowns are collected but not yet surfaced in the Compare tab. Adding them makes model selection more precise.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1109441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095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Cost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209544"/>
            <a:ext cx="835121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The Budget tab estimates from token count only. Caching multipliers and multi-turn conversation overhead matter in production — these should be factored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67912"/>
            <a:ext cx="1109441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67912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Latency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977640"/>
            <a:ext cx="835121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Track actual measured time-to-first-token by region rather than relying on published medians. Provider SLAs vary and are not always reflected in spec sheets.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36008"/>
            <a:ext cx="1109441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36008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457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Saved comparisons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745736"/>
            <a:ext cx="835121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Let users bookmark a set of models and return to a pre-filtered view. Currently everything resets on refresh.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04104"/>
            <a:ext cx="1109441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04104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138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Mobile layout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513832"/>
            <a:ext cx="835121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The dashboard is usable on desktop but not optimized for smaller screens. Several tabs would benefit from a stacked single-column layout on mobile.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10 · REFS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DEDED"/>
                </a:solidFill>
                <a:latin typeface="Inter"/>
              </a:rPr>
              <a:t>References and contributions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6304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spc="160">
                <a:solidFill>
                  <a:srgbClr val="666666"/>
                </a:solidFill>
                <a:latin typeface="Inter"/>
              </a:rPr>
              <a:t>AI FRONTIER  ·  EECE 5642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80">
                <a:solidFill>
                  <a:srgbClr val="666666"/>
                </a:solidFill>
                <a:latin typeface="Inter"/>
              </a:rPr>
              <a:t>github.com/Avo-Sarkissian/AI-Frontier-Database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132320" cy="44348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[1]  Artificial Analysis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0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artificialanalysis.ai — live pricing and benchmark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[2]  MMLU-Pro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272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Wang et al., 2024. MMLU-Pro: Massive Multitask Language Understanding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[3]  GPQA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844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Rein et al., 2023. GPQA: A Graduate-Level Google-Proof Q&amp;A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[4]  LiveCodeBench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Jain et al., 2024. LiveCodeBench: Holistic and Contamination Free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[5]  AIME / MATH-500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988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AMC/AIME competition problems; Hendrycks et al., MATH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[6]  Humanity's Last Exam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560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Scale AI, 2025. Humanity's Last Exam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[7]  HuggingFace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huggingface.co — open-weight model cards and parameter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DEDED"/>
                </a:solidFill>
                <a:latin typeface="Inter"/>
              </a:rPr>
              <a:t>[8]  Plotly Dash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7044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plotly.com/dash — Python web framework for interactive visualizations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1783080"/>
            <a:ext cx="3749039" cy="44348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05740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00D4FF"/>
                </a:solidFill>
                <a:latin typeface="Inter"/>
              </a:rPr>
              <a:t>MEMBER CONTRIBUTIONS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468880"/>
            <a:ext cx="3200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DEDED"/>
                </a:solidFill>
                <a:latin typeface="Inter"/>
              </a:rPr>
              <a:t>Avo Sarkissian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880360"/>
            <a:ext cx="3200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Northeastern University · EECE 5642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44728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337560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Data pipeline + hourly scraper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831336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9912" y="3721608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Composite intelligence scoring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215384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2" y="4105656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All 11 visualization modules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599432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9912" y="4489704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VRAM compatibility calculator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983480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4873752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Hybrid stack recommender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5367528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2" y="5257800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Render deployment + CI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5751576"/>
            <a:ext cx="731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5641848"/>
            <a:ext cx="3017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8888"/>
                </a:solidFill>
                <a:latin typeface="Inter"/>
              </a:rPr>
              <a:t>Presentation +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0E3544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 spc="120">
                <a:solidFill>
                  <a:srgbClr val="00D4FF"/>
                </a:solidFill>
                <a:latin typeface="Inter"/>
              </a:rPr>
              <a:t>07 ·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594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spc="120">
                <a:solidFill>
                  <a:srgbClr val="666666"/>
                </a:solidFill>
                <a:latin typeface="Inter"/>
              </a:rP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0" b="1">
                <a:solidFill>
                  <a:srgbClr val="EDEDED"/>
                </a:solidFill>
                <a:latin typeface="Inter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4FF"/>
                </a:solidFill>
                <a:latin typeface="Inter"/>
              </a:rPr>
              <a:t>→ ai-frontier-database.onrender.com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210915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2109155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EDEDED"/>
                </a:solidFill>
                <a:latin typeface="Inter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Cost vs. quality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4955" y="4023360"/>
            <a:ext cx="210915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4955" y="4023360"/>
            <a:ext cx="2109155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7835" y="42519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EDEDED"/>
                </a:solidFill>
                <a:latin typeface="Inter"/>
              </a:rPr>
              <a:t>RANKINGS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7835" y="4572000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Top models by score and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1270" y="4023360"/>
            <a:ext cx="210915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1270" y="4023360"/>
            <a:ext cx="2109155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4150" y="42519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EDEDED"/>
                </a:solidFill>
                <a:latin typeface="Inter"/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4150" y="4572000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Five models head to head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7585" y="4023360"/>
            <a:ext cx="210915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7585" y="4023360"/>
            <a:ext cx="2109155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465" y="42519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EDEDED"/>
                </a:solidFill>
                <a:latin typeface="Inter"/>
              </a:rPr>
              <a:t>RUN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465" y="4572000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Pick a GPU, see what fits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3900" y="4023360"/>
            <a:ext cx="2109155" cy="1097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33900" y="4023360"/>
            <a:ext cx="2109155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6780" y="42519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EDEDED"/>
                </a:solidFill>
                <a:latin typeface="Inter"/>
              </a:rPr>
              <a:t>AGENT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6780" y="4572000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Inter"/>
              </a:rPr>
              <a:t>Build a hybrid Claude Code stack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15000"/>
            <a:ext cx="11094415" cy="0"/>
          </a:xfrm>
          <a:prstGeom prst="line">
            <a:avLst/>
          </a:prstGeom>
          <a:ln w="9525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943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666666"/>
                </a:solidFill>
                <a:latin typeface="Inter"/>
              </a:rPr>
              <a:t>DATA  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943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Inter"/>
              </a:rPr>
              <a:t>artificialanalysis.ai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17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40">
                <a:solidFill>
                  <a:srgbClr val="666666"/>
                </a:solidFill>
                <a:latin typeface="Inter"/>
              </a:rPr>
              <a:t>CODE  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Inter"/>
              </a:rPr>
              <a:t>github.com/Avo-Sarkissian/AI-Frontier-Database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