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109728" cy="109728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200">
                <a:solidFill>
                  <a:srgbClr val="EDEDED"/>
                </a:solidFill>
                <a:latin typeface="Inter"/>
              </a:rPr>
              <a:t>AI FRONTIER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62895" y="4572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LIVE DEMO  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666666"/>
                </a:solidFill>
                <a:latin typeface="Inter"/>
              </a:rPr>
              <a:t>DATA VISUALIZATION  ·  EECE 5642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1155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EDEDED"/>
                </a:solidFill>
                <a:latin typeface="Inter"/>
              </a:rPr>
              <a:t>Mapping the AI Model Landscape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888888"/>
                </a:solidFill>
                <a:latin typeface="Inter"/>
              </a:rPr>
              <a:t>Comparing 255+ AI models on cost, speed, and intelligence,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5196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888888"/>
                </a:solidFill>
                <a:latin typeface="Inter"/>
              </a:rPr>
              <a:t>in one place, updated every hour.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53492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255+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MODELS TRACKED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2243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2243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PROVIDERS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INTERACTIVE TABS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451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D4FF"/>
                </a:solidFill>
                <a:latin typeface="Inter"/>
              </a:rPr>
              <a:t>HOURLY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451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DATA REFRESH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Avo Sarkissian  ·  Northeastern University  ·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786384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01 ·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02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Why this matters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New AI models ship every week. The right pick can be the difference between a $5 and a $5,000 monthly bill.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2650159" cy="27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06040"/>
            <a:ext cx="265015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219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00D4FF"/>
                </a:solidFill>
                <a:latin typeface="Inter"/>
              </a:rPr>
              <a:t>DEVELOPERS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192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Pick the cheapest model that still does the job. Not every task needs the smartest model.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3391" y="2606040"/>
            <a:ext cx="2650159" cy="27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3391" y="2606040"/>
            <a:ext cx="265015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1991" y="2880360"/>
            <a:ext cx="219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C084FC"/>
                </a:solidFill>
                <a:latin typeface="Inter"/>
              </a:rPr>
              <a:t>RESEARCHERS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1991" y="3383280"/>
            <a:ext cx="2192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Track which models lead on what. The leaderboard shifts every few weeks.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8143" y="2606040"/>
            <a:ext cx="2650159" cy="27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8143" y="2606040"/>
            <a:ext cx="265015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6743" y="2880360"/>
            <a:ext cx="219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22C55E"/>
                </a:solidFill>
                <a:latin typeface="Inter"/>
              </a:rPr>
              <a:t>BUSINESSES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743" y="3383280"/>
            <a:ext cx="2192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Estimate monthly cost before committing. Two similar models can differ 50× in price.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2895" y="2606040"/>
            <a:ext cx="2650159" cy="27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92895" y="2606040"/>
            <a:ext cx="265015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1495" y="2880360"/>
            <a:ext cx="219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FB923C"/>
                </a:solidFill>
                <a:latin typeface="Inter"/>
              </a:rPr>
              <a:t>STUDENTS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1495" y="3383280"/>
            <a:ext cx="2192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Know what runs on your laptop versus what needs an API key.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AI Frontier puts every comparison in one place, so the answer is a glance, not a spreadsheet.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02 ·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03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Where the data comes from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Two separate data sources: a live API for cloud models, and a curated catalog for local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40280"/>
            <a:ext cx="6766560" cy="21031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40280"/>
            <a:ext cx="6766560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468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ARTIFICIAL ANALYSIS API  ·  artificialanalysis.ai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8892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DEDED"/>
                </a:solidFill>
                <a:latin typeface="Inter"/>
              </a:rPr>
              <a:t>Cloud LLMs, image gen, video gen, embeddings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383280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3291840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Price, speed, latency, context window for every public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767328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675888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Scraped hourly in the background. Each run saves a dated snapshot.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480560"/>
            <a:ext cx="6766560" cy="1645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480560"/>
            <a:ext cx="6766560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7091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084FC"/>
                </a:solidFill>
                <a:latin typeface="Inter"/>
              </a:rPr>
              <a:t>MANUALLY CURATED  ·  Manufacturer spec sheets + HuggingFace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2920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DEDED"/>
                </a:solidFill>
                <a:latin typeface="Inter"/>
              </a:rPr>
              <a:t>Local open-weight models + GPU hardware specs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5559552"/>
            <a:ext cx="73152" cy="73152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5486400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GPU VRAM and memory bandwidth from official product pages (NVIDIA, AMD, Apple, Intel)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5888736"/>
            <a:ext cx="73152" cy="73152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5815584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Open-weight model catalog with parameter counts from HuggingFace model cards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3800" y="2240280"/>
            <a:ext cx="4160520" cy="3886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20" y="251460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FRESHNESS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288036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00D4FF"/>
                </a:solidFill>
                <a:latin typeface="Inter"/>
              </a:rPr>
              <a:t>1 hr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365760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Cloud model refresh interval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18120" y="4114799"/>
            <a:ext cx="3611880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818120" y="425196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EDEDED"/>
                </a:solidFill>
                <a:latin typeface="Inter"/>
              </a:rPr>
              <a:t>30+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502920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Daily snapshots on file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18120" y="5394960"/>
            <a:ext cx="3611880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818120" y="553212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LOCAL CATALOG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5733288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Static  ·  updated when new models release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03 ·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04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How the intelligence score works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A single 0–100 number, made by averaging several public AI tests so no single benchmark dominates.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2650159" cy="2194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31720"/>
            <a:ext cx="265015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0604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00D4FF"/>
                </a:solidFill>
                <a:latin typeface="Inter"/>
              </a:rPr>
              <a:t>REASONING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19295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General knowledge and step-by-step thinking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06239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MMLU-Pro, GPQA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3391" y="2331720"/>
            <a:ext cx="2650159" cy="2194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63391" y="2331720"/>
            <a:ext cx="265015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1991" y="260604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C084FC"/>
                </a:solidFill>
                <a:latin typeface="Inter"/>
              </a:rPr>
              <a:t>CODING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1991" y="3108960"/>
            <a:ext cx="219295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Writing and debugging real programs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1991" y="402336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1991" y="4206239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LiveCodeBench, SciCode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2331720"/>
            <a:ext cx="2650159" cy="2194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2331720"/>
            <a:ext cx="265015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6743" y="260604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22C55E"/>
                </a:solidFill>
                <a:latin typeface="Inter"/>
              </a:rPr>
              <a:t>MATH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6743" y="3108960"/>
            <a:ext cx="219295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Multi-step quantitative problems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6743" y="402336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6743" y="4206239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AIME, MATH-500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92895" y="2331720"/>
            <a:ext cx="2650159" cy="2194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92895" y="2331720"/>
            <a:ext cx="265015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21495" y="260604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FB923C"/>
                </a:solidFill>
                <a:latin typeface="Inter"/>
              </a:rPr>
              <a:t>KNOWLEDGE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1495" y="3108960"/>
            <a:ext cx="219295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Recall and synthesis across many fields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1495" y="402336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1495" y="4206239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Humanity's Last Exam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846320"/>
            <a:ext cx="11094415" cy="12801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074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WHY AVERAGE THEM?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A model that wins on knowledge but flunks coding looks great on a single chart and misleading everywhere else.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715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Averaging several tests rewards well-rounded models and lets one number sit on every chart in the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941832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04 ·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05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How it's built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Built in Python, hosted on Render. No JavaScript, no build step.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2101839" cy="3291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31720"/>
            <a:ext cx="210183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51760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EDED"/>
                </a:solidFill>
                <a:latin typeface="Inter"/>
              </a:rPr>
              <a:t>Dash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0040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00D4FF"/>
                </a:solidFill>
                <a:latin typeface="Inter"/>
              </a:rPr>
              <a:t>WEB FRAMEWORK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644639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Turns Python functions into a live interactive site. Handles tabs, filters, and callbacks.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96783" y="2331720"/>
            <a:ext cx="2101839" cy="3291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6783" y="2331720"/>
            <a:ext cx="210183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25383" y="2651760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EDED"/>
                </a:solidFill>
                <a:latin typeface="Inter"/>
              </a:rPr>
              <a:t>Plotly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5383" y="320040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C084FC"/>
                </a:solidFill>
                <a:latin typeface="Inter"/>
              </a:rPr>
              <a:t>CHARTS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5383" y="3566160"/>
            <a:ext cx="1644639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Every chart in the dashboard. Interactive, hoverable, and styled from one config.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44927" y="2331720"/>
            <a:ext cx="2101839" cy="3291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4927" y="2331720"/>
            <a:ext cx="210183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73527" y="2651760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EDED"/>
                </a:solidFill>
                <a:latin typeface="Inter"/>
              </a:rPr>
              <a:t>Pandas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3527" y="320040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22C55E"/>
                </a:solidFill>
                <a:latin typeface="Inter"/>
              </a:rPr>
              <a:t>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3527" y="3566160"/>
            <a:ext cx="1644639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Loads the CSV, runs filters, and computes the Pareto frontier and value scores.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3071" y="2331720"/>
            <a:ext cx="2101839" cy="3291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3071" y="2331720"/>
            <a:ext cx="210183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21671" y="2651760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EDED"/>
                </a:solidFill>
                <a:latin typeface="Inter"/>
              </a:rPr>
              <a:t>Requests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21671" y="320040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FB923C"/>
                </a:solidFill>
                <a:latin typeface="Inter"/>
              </a:rPr>
              <a:t>LIVE SCRAPER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1671" y="3566160"/>
            <a:ext cx="1644639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Plain HTTP call to the Artificial Analysis API every hour. No browser needed.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41215" y="2331720"/>
            <a:ext cx="2101839" cy="3291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41215" y="2331720"/>
            <a:ext cx="2101839" cy="45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69815" y="2651760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EDED"/>
                </a:solidFill>
                <a:latin typeface="Inter"/>
              </a:rPr>
              <a:t>Render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9815" y="320040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7C3AED"/>
                </a:solidFill>
                <a:latin typeface="Inter"/>
              </a:rPr>
              <a:t>HOSTING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9815" y="3566160"/>
            <a:ext cx="1644639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Cloud platform that runs the app 24/7 from the GitHub repo. Redeploys on every push.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64134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05 · VISUALIZATIONS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06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Charts and the choices behind them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5760720" cy="4434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CHART TYPES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56032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5146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Bubble scatter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7432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Three things at once: price, quality, speed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15468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108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Pareto frontier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3375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Highlights the best deals on the curve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4904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7033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Treemap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9319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One tile per provider, sized by model count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34340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2976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Horizontal bars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5262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Best for ranked comparisons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493776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920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Radar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1206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Compare 5 models on 5 dimensions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53212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4864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Bump chart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7150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Tracks how rankings move over 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1783080"/>
            <a:ext cx="5166360" cy="4434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201168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DESIGN CHOICES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468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00D4FF"/>
                </a:solidFill>
                <a:latin typeface="Inter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24688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Data-ink ratio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2761488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Most pixels should encode data. Removed gridlines, frames, and a long legend.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33375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00D4FF"/>
                </a:solidFill>
                <a:latin typeface="Inter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333756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Color with backup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9480" y="3630168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Provider has both a color AND a marker shape, readable for colorblind viewers.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4206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00D4FF"/>
                </a:solidFill>
                <a:latin typeface="Inter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420624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Visual grouping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498848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Filters sit next to the chart they control. Shared colors carry across all 11 tabs.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0749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00D4FF"/>
                </a:solidFill>
                <a:latin typeface="Inter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507492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Right chart for the job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69480" y="5367528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Bars for ranking, log scale for prices that span 1000×, small multiples to avoid clutter.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64134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06 · LOCAL + HYBRID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07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Open weights and Claude Code stacks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8888"/>
                </a:solidFill>
                <a:latin typeface="Inter"/>
              </a:rPr>
              <a:t>Not everything has to live on the cloud. The dashboard also tracks open-weight models you can run yourself, and recommends hybrid setups for tools like Claude Code / openclaw.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5486400" cy="35204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RUN LOCAL 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004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EDED"/>
                </a:solidFill>
                <a:latin typeface="Inter"/>
              </a:rPr>
              <a:t>Will it run on my machine?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507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931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Pick your GPU and how much you want to compress the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5079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89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See which open-weight models will actually fit in your VRAM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9651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8463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Get an estimated speed in tokens/second for your hardware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4223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303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Compare every open model on the same intelligence score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606040"/>
            <a:ext cx="5440680" cy="35204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288036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HYBRID STACK  ·  CLAUDE CODE / OPENCLAW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20040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DEDED"/>
                </a:solidFill>
                <a:latin typeface="Inter"/>
              </a:rPr>
              <a:t>Three tiers, mix cloud + local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3977640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37960" y="3977640"/>
            <a:ext cx="54864" cy="64008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409651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084FC"/>
                </a:solidFill>
                <a:latin typeface="Inter"/>
              </a:rPr>
              <a:t>REASONING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30682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Plans the work and delegates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417880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88888"/>
                </a:solidFill>
                <a:latin typeface="Inter"/>
              </a:rPr>
              <a:t>Cloud API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4690872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960" y="4690872"/>
            <a:ext cx="54864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0840" y="48097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BALANCED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50200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Writes the actual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48920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88888"/>
                </a:solidFill>
                <a:latin typeface="Inter"/>
              </a:rPr>
              <a:t>Cloud API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5404104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37960" y="5404104"/>
            <a:ext cx="54864" cy="64008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20840" y="55229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22C55E"/>
                </a:solidFill>
                <a:latin typeface="Inter"/>
              </a:rPr>
              <a:t>FAST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573328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Handles cheap, high-volume tasks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56052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88888"/>
                </a:solidFill>
                <a:latin typeface="Inter"/>
              </a:rPr>
              <a:t>Local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07 ·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5943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08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>
                <a:solidFill>
                  <a:srgbClr val="EDEDED"/>
                </a:solidFill>
                <a:latin typeface="Inter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D4FF"/>
                </a:solidFill>
                <a:latin typeface="Inter"/>
              </a:rPr>
              <a:t>→ localhost:8050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Cost vs. quality at a glance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94955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94955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7835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RANKINGS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7835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Top models by score and value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127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4127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2415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COMPARE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415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Five models head to head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87585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87585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465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RUN 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465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Pick a GPU, see what fits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3390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3390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678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AGENT 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678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Build a hybrid Claude Code stack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571500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5943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DATA  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artificialanalysis.ai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217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CODE  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6217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github.com/Avo-Sarkissian/AI-Frontier-Database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